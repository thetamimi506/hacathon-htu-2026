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77"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835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ثانية) السلام عليكم. نحن فريق من الجامعة الهاشمية: محمد المواصلة، يزن التميمي، شاكر العثامنة، عون العفيشات، وايهم الجواميس. نشارك في AI Quest 2026 / AI App Hackathon بمنصة الموارد الصحية الذكية: نموذج أولي يساعد المستشفيات في الأردن على قرارات أدق في الأدوية والمواعيد والأسرّة. سأوضح المشكلة والحل وما أنجزناه فعلاً، وسأميّز بين المنفَّذ والمتوقع.</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ثانية) نبدأ بالسياق. وفق مراجعة منشورة في BMC Health Services Research عام 2024، تبلغ نسبة الأسرّة 1.4 لكل ألف نسمة وهي منخفضة نسبياً، ونسبة التمريض 37.5 لكل عشرة آلاف، والإنفاق الصحي 6.37٪ من الناتج المحلي. الموارد محدودة، وأي هدر أو تأخر في القرار مكلف. نحن لا نقول إن كل مستشفى يعاني من كل هذه المشكلات بالمعدل نفسه؛ بل نشير إلى ثلاثة مواضع قد يظهر فيها الضغط: الأدوية، والمواعيد، والأسرّة.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ثانية) المتضرر ليس طرفاً واحداً. المريض يتأخر علاجه إذا نقص دواء أو طال انتظار موعده. الصيدلي يتابع المخزون وتواريخ الانتهاء يدوياً. الإدارة ترى المخاطر متأخرة. والكوادر الطبية تتحمل ازدحام العيادات والأقسام. وتحت كل فئة ذكرنا الوحدة في منصتنا التي تعالج هذا الأثر.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ثانية) الفكرة بسيطة: تنتقل المنصة من البيانات إلى التنبؤ، ثم إلى تنبيه أو توصية، وتنتهي دائماً بقرار بشري. في الأدوية نتوقع الطلب ونحسب حد إعادة الطلب وننبّه للنفاد وللكميات المعرّضة للانتهاء ونقترح نقل الفائض. في المواعيد نقدّر احتمال الغياب ونكشف تجاوز السعة. في الأسرّة نتوقع الإشغال لسبعة أيام. وللأمانة العلمية، نميّز في الواجهة بين التنبؤ الإحصائي والتعلم الآلي والقواعد الحسابية والمحاكاة؛ فليست كل قاعدة حسابية ذكاءً اصطناعياً.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ثانية) لنأخذ مثالاً افتراضياً. تتوقع المنصة طلب دواء معيّن، وتقارنه بالمخزون وبمهلة المورّد. إذا وجدت أن المخزون سينفد قبل أن يصل أي طلب جديد، تُظهر تنبيهاً حرجاً مع توصية: طلب كمية جديدة أو نقل فائض من منشأة مؤهلة. المهم أن المنصة لا تنفّذ شيئاً بنفسها: يراجع الصيدلي المخوّل التوصية ويعتمدها أو يرفضها أو يؤجلها، وكل قرار يُسجَّل في سجل تدقيق. (يمكن استبدال الرسم بلقطة شاشة حقيقية من النسخة التجريبية.)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ثانية) هنا القيمة المتوقعة، وأؤكد أنها متوقعة وليست محققة. الفائدة المالية ترتبط بتقليل الأدوية المعرّضة للهدر. الوقت والكفاءة بتجميع التنبيهات بدل المتابعة اليدوية. وجودة الخدمة بتوقع النفاد والغياب. والتخطيط بتوقع الإشغال. لم نحسب وفورات بالدينار لأننا لا نملك بيانات حقيقية، لكننا حددنا مؤشرات واضحة تُقاس عند التجربة: قيمة الأدوية المعرّضة للهدر، ومعدل نفاد المخزون، ومعدل عدم الحضور، ودقة توقع الإشغال.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ثانية) هذه أهم شريحة. بدأنا المشروع أمس الساعة 1:30 ظهراً، وموعد التسليم اليوم الساعة 1:00 ظهراً، أي نحو 24 ساعة. نقدّر إنجازنا بنحو 64٪ من النموذج الأولي (7 من 11 بنداً بين مكتمل ومُختبر). أنجزنا واجهة عربية من اليمين إلى اليسار بستة أقسام، ووحدات الأدوية والعيادات والأسرّة، ومراجعة بشرية بثلاثة أدوار مع سجل تدقيق، ووسماً يبيّن مصدر كل رقم. واختبرنا النماذج على بيانات تجريبية: تنبؤ الطلب مقابل خط أساس على 56 يوماً، وتنبؤ الغياب بمقياسي AUC وBrier على 30 يوماً، ومحاكاة سياستين لإعادة الطلب على 120 يوماً. (اذكر الأرقام من تبويب المنهجية.) ونؤكد: البيانات مولّدة، ولم يُطبَّق النظام في مستشفى حقيقي. المتبقي: بيانات حقيقية مصرح بها، وخادم FastAPI وقاعدة PostgreSQL، وتحقق سريري، والامتثال لقانون حماية البيانات.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ثانية) نلخص: المشكلة حقيقية في بيئة موارد محدودة، والحل منصة تحوّل البيانات إلى تنبيهات وتوصيات تُراجَع بشرياً. أنجزنا نموذجاً أولياً يعمل على بيانات تجريبية، والخطوة التالية واضحة: التحقق من الأداء، ثم الاختبار على بيانات واقعية مصرح بها، ثم تجربة مع جهة صحية مناسبة. نحن لا نعد بوفورات لم تتحقق؛ نبني الثقة بالأدلة. شكراً لكم، ويسعدنا أسئلتكم.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72B"/>
        </a:solidFill>
        <a:effectLst/>
      </p:bgPr>
    </p:bg>
    <p:spTree>
      <p:nvGrpSpPr>
        <p:cNvPr id="1" name=""/>
        <p:cNvGrpSpPr/>
        <p:nvPr/>
      </p:nvGrpSpPr>
      <p:grpSpPr>
        <a:xfrm>
          <a:off x="0" y="0"/>
          <a:ext cx="0" cy="0"/>
          <a:chOff x="0" y="0"/>
          <a:chExt cx="0" cy="0"/>
        </a:xfrm>
      </p:grpSpPr>
      <p:sp>
        <p:nvSpPr>
          <p:cNvPr id="2" name="Shape 0"/>
          <p:cNvSpPr/>
          <p:nvPr/>
        </p:nvSpPr>
        <p:spPr>
          <a:xfrm>
            <a:off x="5760720" y="-1280160"/>
            <a:ext cx="4389120" cy="4389120"/>
          </a:xfrm>
          <a:prstGeom prst="ellipse">
            <a:avLst/>
          </a:prstGeom>
          <a:solidFill>
            <a:srgbClr val="173236"/>
          </a:solidFill>
          <a:ln w="12700">
            <a:solidFill>
              <a:srgbClr val="173236"/>
            </a:solidFill>
            <a:prstDash val="solid"/>
          </a:ln>
        </p:spPr>
        <p:txBody>
          <a:bodyPr/>
          <a:lstStyle/>
          <a:p>
            <a:endParaRPr lang="en-US"/>
          </a:p>
        </p:txBody>
      </p:sp>
      <p:sp>
        <p:nvSpPr>
          <p:cNvPr id="3" name="Shape 1"/>
          <p:cNvSpPr/>
          <p:nvPr/>
        </p:nvSpPr>
        <p:spPr>
          <a:xfrm>
            <a:off x="-1097280" y="3566160"/>
            <a:ext cx="2926080" cy="2926080"/>
          </a:xfrm>
          <a:prstGeom prst="ellipse">
            <a:avLst/>
          </a:prstGeom>
          <a:solidFill>
            <a:srgbClr val="173236"/>
          </a:solidFill>
          <a:ln w="12700">
            <a:solidFill>
              <a:srgbClr val="173236"/>
            </a:solidFill>
            <a:prstDash val="solid"/>
          </a:ln>
        </p:spPr>
        <p:txBody>
          <a:bodyPr/>
          <a:lstStyle/>
          <a:p>
            <a:endParaRPr lang="en-US"/>
          </a:p>
        </p:txBody>
      </p:sp>
      <p:sp>
        <p:nvSpPr>
          <p:cNvPr id="4" name="Shape 2"/>
          <p:cNvSpPr/>
          <p:nvPr/>
        </p:nvSpPr>
        <p:spPr>
          <a:xfrm>
            <a:off x="457200" y="411480"/>
            <a:ext cx="548640" cy="548640"/>
          </a:xfrm>
          <a:prstGeom prst="ellipse">
            <a:avLst/>
          </a:prstGeom>
          <a:solidFill>
            <a:srgbClr val="0B6B6B"/>
          </a:solidFill>
          <a:ln w="19050">
            <a:solidFill>
              <a:srgbClr val="45B8B2"/>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03504" y="557784"/>
            <a:ext cx="256032" cy="256032"/>
          </a:xfrm>
          <a:prstGeom prst="rect">
            <a:avLst/>
          </a:prstGeom>
        </p:spPr>
      </p:pic>
      <p:sp>
        <p:nvSpPr>
          <p:cNvPr id="6" name="Shape 3"/>
          <p:cNvSpPr/>
          <p:nvPr/>
        </p:nvSpPr>
        <p:spPr>
          <a:xfrm>
            <a:off x="6126480" y="457200"/>
            <a:ext cx="2560320" cy="365760"/>
          </a:xfrm>
          <a:prstGeom prst="roundRect">
            <a:avLst>
              <a:gd name="adj" fmla="val 50000"/>
            </a:avLst>
          </a:prstGeom>
          <a:solidFill>
            <a:srgbClr val="F7EFD9"/>
          </a:solidFill>
          <a:ln w="9525">
            <a:solidFill>
              <a:srgbClr val="7A5C12"/>
            </a:solidFill>
            <a:prstDash val="solid"/>
          </a:ln>
          <a:effectLst>
            <a:outerShdw blurRad="101600" dist="25400" dir="5400000" algn="bl" rotWithShape="0">
              <a:srgbClr val="0B3B3B">
                <a:alpha val="10000"/>
              </a:srgbClr>
            </a:outerShdw>
          </a:effectLst>
        </p:spPr>
        <p:txBody>
          <a:bodyPr/>
          <a:lstStyle/>
          <a:p>
            <a:endParaRPr lang="en-US"/>
          </a:p>
        </p:txBody>
      </p:sp>
      <p:sp>
        <p:nvSpPr>
          <p:cNvPr id="7" name="Text 4"/>
          <p:cNvSpPr txBox="1"/>
          <p:nvPr/>
        </p:nvSpPr>
        <p:spPr>
          <a:xfrm>
            <a:off x="6126480" y="457200"/>
            <a:ext cx="2560320" cy="365760"/>
          </a:xfrm>
          <a:prstGeom prst="rect">
            <a:avLst/>
          </a:prstGeom>
          <a:noFill/>
          <a:ln/>
        </p:spPr>
        <p:txBody>
          <a:bodyPr wrap="square" lIns="0" tIns="0" rIns="0" bIns="0" rtlCol="0" anchor="ctr"/>
          <a:lstStyle/>
          <a:p>
            <a:pPr marL="0" indent="0" algn="ctr" rtl="1">
              <a:buNone/>
            </a:pPr>
            <a:r>
              <a:rPr lang="ar-JO" altLang="en-US" sz="1200" b="1" dirty="0">
                <a:solidFill>
                  <a:srgbClr val="7A5C12"/>
                </a:solidFill>
                <a:latin typeface="Dubai" pitchFamily="34" charset="0"/>
                <a:ea typeface="Dubai" pitchFamily="34" charset="-122"/>
                <a:cs typeface="Dubai" pitchFamily="34" charset="-120"/>
              </a:rPr>
              <a:t>نموذج أولي · بيانات تجريبية</a:t>
            </a:r>
            <a:endParaRPr lang="ar-JO" sz="1200" dirty="0"/>
          </a:p>
        </p:txBody>
      </p:sp>
      <p:sp>
        <p:nvSpPr>
          <p:cNvPr id="8" name="Text 5"/>
          <p:cNvSpPr txBox="1"/>
          <p:nvPr/>
        </p:nvSpPr>
        <p:spPr>
          <a:xfrm>
            <a:off x="457200" y="1005840"/>
            <a:ext cx="8229600" cy="822960"/>
          </a:xfrm>
          <a:prstGeom prst="rect">
            <a:avLst/>
          </a:prstGeom>
          <a:noFill/>
          <a:ln/>
        </p:spPr>
        <p:txBody>
          <a:bodyPr wrap="square" lIns="0" tIns="0" rIns="0" bIns="0" rtlCol="0" anchor="ctr"/>
          <a:lstStyle/>
          <a:p>
            <a:pPr marL="0" indent="0" algn="r" rtl="1">
              <a:buNone/>
            </a:pPr>
            <a:r>
              <a:rPr lang="ar-JO" altLang="en-US" sz="4200" b="1" dirty="0">
                <a:solidFill>
                  <a:srgbClr val="FFFFFF"/>
                </a:solidFill>
                <a:latin typeface="Dubai" pitchFamily="34" charset="0"/>
                <a:ea typeface="Dubai" pitchFamily="34" charset="-122"/>
                <a:cs typeface="Dubai" pitchFamily="34" charset="-120"/>
              </a:rPr>
              <a:t>منصة الموارد الصحية الذكية</a:t>
            </a:r>
            <a:endParaRPr lang="ar-JO" sz="4200" dirty="0"/>
          </a:p>
        </p:txBody>
      </p:sp>
      <p:sp>
        <p:nvSpPr>
          <p:cNvPr id="9" name="Text 6"/>
          <p:cNvSpPr txBox="1"/>
          <p:nvPr/>
        </p:nvSpPr>
        <p:spPr>
          <a:xfrm>
            <a:off x="457200" y="1783080"/>
            <a:ext cx="8229600" cy="548640"/>
          </a:xfrm>
          <a:prstGeom prst="rect">
            <a:avLst/>
          </a:prstGeom>
          <a:noFill/>
          <a:ln/>
        </p:spPr>
        <p:txBody>
          <a:bodyPr wrap="square" lIns="0" tIns="0" rIns="0" bIns="0" rtlCol="0" anchor="ctr"/>
          <a:lstStyle/>
          <a:p>
            <a:pPr marL="0" indent="0" algn="r" rtl="1">
              <a:buNone/>
            </a:pPr>
            <a:r>
              <a:rPr lang="ar-JO" altLang="en-US" sz="2000" dirty="0">
                <a:solidFill>
                  <a:srgbClr val="9FD6D2"/>
                </a:solidFill>
                <a:latin typeface="Dubai" pitchFamily="34" charset="0"/>
                <a:ea typeface="Dubai" pitchFamily="34" charset="-122"/>
                <a:cs typeface="Dubai" pitchFamily="34" charset="-120"/>
              </a:rPr>
              <a:t>دواء متوفر، موعد منظَّم، سرير جاهز: من البيانات إلى القرار</a:t>
            </a:r>
            <a:endParaRPr lang="ar-JO" sz="2000" dirty="0"/>
          </a:p>
        </p:txBody>
      </p:sp>
      <p:sp>
        <p:nvSpPr>
          <p:cNvPr id="10" name="Text 7"/>
          <p:cNvSpPr txBox="1"/>
          <p:nvPr/>
        </p:nvSpPr>
        <p:spPr>
          <a:xfrm>
            <a:off x="457200" y="2560320"/>
            <a:ext cx="8229600" cy="274320"/>
          </a:xfrm>
          <a:prstGeom prst="rect">
            <a:avLst/>
          </a:prstGeom>
          <a:noFill/>
          <a:ln/>
        </p:spPr>
        <p:txBody>
          <a:bodyPr wrap="square" lIns="0" tIns="0" rIns="0" bIns="0" rtlCol="0" anchor="ctr"/>
          <a:lstStyle/>
          <a:p>
            <a:pPr marL="0" indent="0" algn="r" rtl="1">
              <a:buNone/>
            </a:pPr>
            <a:r>
              <a:rPr lang="ar-JO" altLang="en-US" sz="1300" b="1" dirty="0">
                <a:solidFill>
                  <a:srgbClr val="9FD6D2"/>
                </a:solidFill>
                <a:latin typeface="Dubai" pitchFamily="34" charset="0"/>
                <a:ea typeface="Dubai" pitchFamily="34" charset="-122"/>
                <a:cs typeface="Dubai" pitchFamily="34" charset="-120"/>
              </a:rPr>
              <a:t>فريق العمل</a:t>
            </a:r>
            <a:endParaRPr lang="ar-JO" sz="1300" dirty="0"/>
          </a:p>
        </p:txBody>
      </p:sp>
      <p:sp>
        <p:nvSpPr>
          <p:cNvPr id="11" name="Shape 8"/>
          <p:cNvSpPr/>
          <p:nvPr/>
        </p:nvSpPr>
        <p:spPr>
          <a:xfrm>
            <a:off x="7132320" y="2880360"/>
            <a:ext cx="1554480" cy="502920"/>
          </a:xfrm>
          <a:prstGeom prst="roundRect">
            <a:avLst>
              <a:gd name="adj" fmla="val 49091"/>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2" name="Text 9"/>
          <p:cNvSpPr txBox="1"/>
          <p:nvPr/>
        </p:nvSpPr>
        <p:spPr>
          <a:xfrm>
            <a:off x="7132320" y="2880360"/>
            <a:ext cx="1554480" cy="50292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محمد المواصلة</a:t>
            </a:r>
            <a:endParaRPr lang="ar-JO" sz="1300" dirty="0"/>
          </a:p>
        </p:txBody>
      </p:sp>
      <p:sp>
        <p:nvSpPr>
          <p:cNvPr id="13" name="Shape 10"/>
          <p:cNvSpPr/>
          <p:nvPr/>
        </p:nvSpPr>
        <p:spPr>
          <a:xfrm>
            <a:off x="5463540" y="2880360"/>
            <a:ext cx="1554480" cy="502920"/>
          </a:xfrm>
          <a:prstGeom prst="roundRect">
            <a:avLst>
              <a:gd name="adj" fmla="val 49091"/>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4" name="Text 11"/>
          <p:cNvSpPr txBox="1"/>
          <p:nvPr/>
        </p:nvSpPr>
        <p:spPr>
          <a:xfrm>
            <a:off x="5463540" y="2880360"/>
            <a:ext cx="1554480" cy="50292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يزن التميمي</a:t>
            </a:r>
            <a:endParaRPr lang="ar-JO" sz="1300" dirty="0"/>
          </a:p>
        </p:txBody>
      </p:sp>
      <p:sp>
        <p:nvSpPr>
          <p:cNvPr id="15" name="Shape 12"/>
          <p:cNvSpPr/>
          <p:nvPr/>
        </p:nvSpPr>
        <p:spPr>
          <a:xfrm>
            <a:off x="3794760" y="2880360"/>
            <a:ext cx="1554480" cy="502920"/>
          </a:xfrm>
          <a:prstGeom prst="roundRect">
            <a:avLst>
              <a:gd name="adj" fmla="val 49091"/>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6" name="Text 13"/>
          <p:cNvSpPr txBox="1"/>
          <p:nvPr/>
        </p:nvSpPr>
        <p:spPr>
          <a:xfrm>
            <a:off x="3794760" y="2880360"/>
            <a:ext cx="1554480" cy="50292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شاكر العثامنة</a:t>
            </a:r>
            <a:endParaRPr lang="ar-JO" sz="1300" dirty="0"/>
          </a:p>
        </p:txBody>
      </p:sp>
      <p:sp>
        <p:nvSpPr>
          <p:cNvPr id="17" name="Shape 14"/>
          <p:cNvSpPr/>
          <p:nvPr/>
        </p:nvSpPr>
        <p:spPr>
          <a:xfrm>
            <a:off x="2125980" y="2880360"/>
            <a:ext cx="1554480" cy="502920"/>
          </a:xfrm>
          <a:prstGeom prst="roundRect">
            <a:avLst>
              <a:gd name="adj" fmla="val 49091"/>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8" name="Text 15"/>
          <p:cNvSpPr txBox="1"/>
          <p:nvPr/>
        </p:nvSpPr>
        <p:spPr>
          <a:xfrm>
            <a:off x="2125980" y="2880360"/>
            <a:ext cx="1554480" cy="50292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عون العفيشات</a:t>
            </a:r>
            <a:endParaRPr lang="ar-JO" sz="1300" dirty="0"/>
          </a:p>
        </p:txBody>
      </p:sp>
      <p:sp>
        <p:nvSpPr>
          <p:cNvPr id="19" name="Shape 16"/>
          <p:cNvSpPr/>
          <p:nvPr/>
        </p:nvSpPr>
        <p:spPr>
          <a:xfrm>
            <a:off x="457200" y="2880360"/>
            <a:ext cx="1554480" cy="502920"/>
          </a:xfrm>
          <a:prstGeom prst="roundRect">
            <a:avLst>
              <a:gd name="adj" fmla="val 49091"/>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20" name="Text 17"/>
          <p:cNvSpPr txBox="1"/>
          <p:nvPr/>
        </p:nvSpPr>
        <p:spPr>
          <a:xfrm>
            <a:off x="457200" y="2880360"/>
            <a:ext cx="1554480" cy="50292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ايهم الجواميس</a:t>
            </a:r>
            <a:endParaRPr lang="ar-JO" sz="1300" dirty="0"/>
          </a:p>
        </p:txBody>
      </p:sp>
      <p:sp>
        <p:nvSpPr>
          <p:cNvPr id="21" name="Shape 18"/>
          <p:cNvSpPr/>
          <p:nvPr/>
        </p:nvSpPr>
        <p:spPr>
          <a:xfrm>
            <a:off x="4663440" y="3840480"/>
            <a:ext cx="4023360" cy="548640"/>
          </a:xfrm>
          <a:prstGeom prst="roundRect">
            <a:avLst>
              <a:gd name="adj" fmla="val 50000"/>
            </a:avLst>
          </a:prstGeom>
          <a:solidFill>
            <a:srgbClr val="0B6B6B"/>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22" name="Text 19"/>
          <p:cNvSpPr txBox="1"/>
          <p:nvPr/>
        </p:nvSpPr>
        <p:spPr>
          <a:xfrm>
            <a:off x="4663440" y="3840480"/>
            <a:ext cx="4023360" cy="548640"/>
          </a:xfrm>
          <a:prstGeom prst="rect">
            <a:avLst/>
          </a:prstGeom>
          <a:noFill/>
          <a:ln/>
        </p:spPr>
        <p:txBody>
          <a:bodyPr wrap="square" lIns="0" tIns="0" rIns="0" bIns="0" rtlCol="0" anchor="ctr"/>
          <a:lstStyle/>
          <a:p>
            <a:pPr marL="0" indent="0" algn="ctr" rtl="1">
              <a:buNone/>
            </a:pPr>
            <a:r>
              <a:rPr lang="ar-JO" altLang="en-US" sz="1400" b="1" dirty="0">
                <a:solidFill>
                  <a:srgbClr val="FFFFFF"/>
                </a:solidFill>
                <a:latin typeface="Dubai" pitchFamily="34" charset="0"/>
                <a:ea typeface="Dubai" pitchFamily="34" charset="-122"/>
                <a:cs typeface="Dubai" pitchFamily="34" charset="-120"/>
              </a:rPr>
              <a:t>الجامعة الهاشمية</a:t>
            </a:r>
            <a:endParaRPr lang="ar-JO" sz="1400" dirty="0"/>
          </a:p>
        </p:txBody>
      </p:sp>
      <p:sp>
        <p:nvSpPr>
          <p:cNvPr id="23" name="Shape 20"/>
          <p:cNvSpPr/>
          <p:nvPr/>
        </p:nvSpPr>
        <p:spPr>
          <a:xfrm>
            <a:off x="457200" y="3840480"/>
            <a:ext cx="4023360" cy="548640"/>
          </a:xfrm>
          <a:prstGeom prst="roundRect">
            <a:avLst>
              <a:gd name="adj" fmla="val 50000"/>
            </a:avLst>
          </a:prstGeom>
          <a:solidFill>
            <a:srgbClr val="0B6B6B"/>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24" name="Text 21"/>
          <p:cNvSpPr txBox="1"/>
          <p:nvPr/>
        </p:nvSpPr>
        <p:spPr>
          <a:xfrm>
            <a:off x="457200" y="3840480"/>
            <a:ext cx="4023360" cy="548640"/>
          </a:xfrm>
          <a:prstGeom prst="rect">
            <a:avLst/>
          </a:prstGeom>
          <a:noFill/>
          <a:ln/>
        </p:spPr>
        <p:txBody>
          <a:bodyPr wrap="square" lIns="0" tIns="0" rIns="0" bIns="0" rtlCol="0" anchor="ctr"/>
          <a:lstStyle/>
          <a:p>
            <a:pPr marL="0" indent="0" algn="ctr" rtl="1">
              <a:buNone/>
            </a:pPr>
            <a:r>
              <a:rPr lang="en-US" sz="1400" b="1" dirty="0">
                <a:solidFill>
                  <a:schemeClr val="bg1">
                    <a:lumMod val="95000"/>
                  </a:schemeClr>
                </a:solidFill>
              </a:rPr>
              <a:t>AI App Hackathon</a:t>
            </a:r>
            <a:endParaRPr lang="ar-JO" sz="1400" b="1" dirty="0">
              <a:solidFill>
                <a:schemeClr val="bg1">
                  <a:lumMod val="9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موارد محدودة تتطلب قرارات أدق</a:t>
            </a:r>
            <a:endParaRPr lang="ar-JO" sz="3000" dirty="0"/>
          </a:p>
        </p:txBody>
      </p:sp>
      <p:sp>
        <p:nvSpPr>
          <p:cNvPr id="3" name="Shape 1"/>
          <p:cNvSpPr/>
          <p:nvPr/>
        </p:nvSpPr>
        <p:spPr>
          <a:xfrm>
            <a:off x="6071616" y="1188720"/>
            <a:ext cx="2615184" cy="1645920"/>
          </a:xfrm>
          <a:prstGeom prst="roundRect">
            <a:avLst>
              <a:gd name="adj" fmla="val 5556"/>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4" name="Text 2"/>
          <p:cNvSpPr txBox="1"/>
          <p:nvPr/>
        </p:nvSpPr>
        <p:spPr>
          <a:xfrm>
            <a:off x="6071616" y="1234440"/>
            <a:ext cx="2615184" cy="731520"/>
          </a:xfrm>
          <a:prstGeom prst="rect">
            <a:avLst/>
          </a:prstGeom>
          <a:noFill/>
          <a:ln/>
        </p:spPr>
        <p:txBody>
          <a:bodyPr wrap="square" lIns="0" tIns="0" rIns="0" bIns="0" rtlCol="0" anchor="ctr"/>
          <a:lstStyle/>
          <a:p>
            <a:pPr marL="0" indent="0" algn="ctr" rtl="1">
              <a:buNone/>
            </a:pPr>
            <a:r>
              <a:rPr lang="ar-JO" altLang="en-US" sz="3800" b="1" dirty="0">
                <a:solidFill>
                  <a:srgbClr val="0B6B6B"/>
                </a:solidFill>
                <a:latin typeface="Dubai" pitchFamily="34" charset="0"/>
                <a:ea typeface="Dubai" pitchFamily="34" charset="-122"/>
                <a:cs typeface="Dubai" pitchFamily="34" charset="-120"/>
              </a:rPr>
              <a:t>1.4</a:t>
            </a:r>
            <a:endParaRPr lang="ar-JO" sz="3800" dirty="0"/>
          </a:p>
        </p:txBody>
      </p:sp>
      <p:sp>
        <p:nvSpPr>
          <p:cNvPr id="5" name="Text 3"/>
          <p:cNvSpPr txBox="1"/>
          <p:nvPr/>
        </p:nvSpPr>
        <p:spPr>
          <a:xfrm>
            <a:off x="6208776" y="1965960"/>
            <a:ext cx="2340864" cy="822960"/>
          </a:xfrm>
          <a:prstGeom prst="rect">
            <a:avLst/>
          </a:prstGeom>
          <a:noFill/>
          <a:ln/>
        </p:spPr>
        <p:txBody>
          <a:bodyPr wrap="square" lIns="0" tIns="0" rIns="0" bIns="0" rtlCol="0" anchor="ctr"/>
          <a:lstStyle/>
          <a:p>
            <a:pPr marL="0" indent="0" algn="ctr" rtl="1">
              <a:buNone/>
            </a:pPr>
            <a:r>
              <a:rPr lang="ar-JO" altLang="en-US" sz="1300" dirty="0">
                <a:solidFill>
                  <a:srgbClr val="13272B"/>
                </a:solidFill>
                <a:latin typeface="Dubai" pitchFamily="34" charset="0"/>
                <a:ea typeface="Dubai" pitchFamily="34" charset="-122"/>
                <a:cs typeface="Dubai" pitchFamily="34" charset="-120"/>
              </a:rPr>
              <a:t>أسرّة مستشفيات لكل 1000 نسمة، وهي نسبة وصفها الباحثون بالمنخفضة</a:t>
            </a:r>
            <a:endParaRPr lang="ar-JO" sz="1300" dirty="0"/>
          </a:p>
        </p:txBody>
      </p:sp>
      <p:sp>
        <p:nvSpPr>
          <p:cNvPr id="6" name="Shape 4"/>
          <p:cNvSpPr/>
          <p:nvPr/>
        </p:nvSpPr>
        <p:spPr>
          <a:xfrm>
            <a:off x="3264408" y="1188720"/>
            <a:ext cx="2615184" cy="1645920"/>
          </a:xfrm>
          <a:prstGeom prst="roundRect">
            <a:avLst>
              <a:gd name="adj" fmla="val 5556"/>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7" name="Text 5"/>
          <p:cNvSpPr txBox="1"/>
          <p:nvPr/>
        </p:nvSpPr>
        <p:spPr>
          <a:xfrm>
            <a:off x="3264408" y="1234440"/>
            <a:ext cx="2615184" cy="731520"/>
          </a:xfrm>
          <a:prstGeom prst="rect">
            <a:avLst/>
          </a:prstGeom>
          <a:noFill/>
          <a:ln/>
        </p:spPr>
        <p:txBody>
          <a:bodyPr wrap="square" lIns="0" tIns="0" rIns="0" bIns="0" rtlCol="0" anchor="ctr"/>
          <a:lstStyle/>
          <a:p>
            <a:pPr marL="0" indent="0" algn="ctr" rtl="1">
              <a:buNone/>
            </a:pPr>
            <a:r>
              <a:rPr lang="ar-JO" altLang="en-US" sz="3800" b="1" dirty="0">
                <a:solidFill>
                  <a:srgbClr val="0B6B6B"/>
                </a:solidFill>
                <a:latin typeface="Dubai" pitchFamily="34" charset="0"/>
                <a:ea typeface="Dubai" pitchFamily="34" charset="-122"/>
                <a:cs typeface="Dubai" pitchFamily="34" charset="-120"/>
              </a:rPr>
              <a:t>37.5</a:t>
            </a:r>
            <a:endParaRPr lang="ar-JO" sz="3800" dirty="0"/>
          </a:p>
        </p:txBody>
      </p:sp>
      <p:sp>
        <p:nvSpPr>
          <p:cNvPr id="8" name="Text 6"/>
          <p:cNvSpPr txBox="1"/>
          <p:nvPr/>
        </p:nvSpPr>
        <p:spPr>
          <a:xfrm>
            <a:off x="3401568" y="1965960"/>
            <a:ext cx="2340864" cy="822960"/>
          </a:xfrm>
          <a:prstGeom prst="rect">
            <a:avLst/>
          </a:prstGeom>
          <a:noFill/>
          <a:ln/>
        </p:spPr>
        <p:txBody>
          <a:bodyPr wrap="square" lIns="0" tIns="0" rIns="0" bIns="0" rtlCol="0" anchor="ctr"/>
          <a:lstStyle/>
          <a:p>
            <a:pPr marL="0" indent="0" algn="ctr" rtl="1">
              <a:buNone/>
            </a:pPr>
            <a:r>
              <a:rPr lang="ar-JO" altLang="en-US" sz="1300" dirty="0">
                <a:solidFill>
                  <a:srgbClr val="13272B"/>
                </a:solidFill>
                <a:latin typeface="Dubai" pitchFamily="34" charset="0"/>
                <a:ea typeface="Dubai" pitchFamily="34" charset="-122"/>
                <a:cs typeface="Dubai" pitchFamily="34" charset="-120"/>
              </a:rPr>
              <a:t>ممرضاً وممرضة لكل 10,000 نسمة، وهي نسبة منخفضة أيضاً</a:t>
            </a:r>
            <a:endParaRPr lang="ar-JO" sz="1300" dirty="0"/>
          </a:p>
        </p:txBody>
      </p:sp>
      <p:sp>
        <p:nvSpPr>
          <p:cNvPr id="9" name="Shape 7"/>
          <p:cNvSpPr/>
          <p:nvPr/>
        </p:nvSpPr>
        <p:spPr>
          <a:xfrm>
            <a:off x="457200" y="1188720"/>
            <a:ext cx="2615184" cy="1645920"/>
          </a:xfrm>
          <a:prstGeom prst="roundRect">
            <a:avLst>
              <a:gd name="adj" fmla="val 5556"/>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0" name="Text 8"/>
          <p:cNvSpPr txBox="1"/>
          <p:nvPr/>
        </p:nvSpPr>
        <p:spPr>
          <a:xfrm>
            <a:off x="457200" y="1234440"/>
            <a:ext cx="2615184" cy="731520"/>
          </a:xfrm>
          <a:prstGeom prst="rect">
            <a:avLst/>
          </a:prstGeom>
          <a:noFill/>
          <a:ln/>
        </p:spPr>
        <p:txBody>
          <a:bodyPr wrap="square" lIns="0" tIns="0" rIns="0" bIns="0" rtlCol="0" anchor="ctr"/>
          <a:lstStyle/>
          <a:p>
            <a:pPr marL="0" indent="0" algn="ctr" rtl="1">
              <a:buNone/>
            </a:pPr>
            <a:r>
              <a:rPr lang="ar-JO" altLang="en-US" sz="3800" b="1" dirty="0">
                <a:solidFill>
                  <a:srgbClr val="0B6B6B"/>
                </a:solidFill>
                <a:latin typeface="Dubai" pitchFamily="34" charset="0"/>
                <a:ea typeface="Dubai" pitchFamily="34" charset="-122"/>
                <a:cs typeface="Dubai" pitchFamily="34" charset="-120"/>
              </a:rPr>
              <a:t>6.37٪</a:t>
            </a:r>
            <a:endParaRPr lang="ar-JO" sz="3800" dirty="0"/>
          </a:p>
        </p:txBody>
      </p:sp>
      <p:sp>
        <p:nvSpPr>
          <p:cNvPr id="11" name="Text 9"/>
          <p:cNvSpPr txBox="1"/>
          <p:nvPr/>
        </p:nvSpPr>
        <p:spPr>
          <a:xfrm>
            <a:off x="594360" y="1965960"/>
            <a:ext cx="2340864" cy="822960"/>
          </a:xfrm>
          <a:prstGeom prst="rect">
            <a:avLst/>
          </a:prstGeom>
          <a:noFill/>
          <a:ln/>
        </p:spPr>
        <p:txBody>
          <a:bodyPr wrap="square" lIns="0" tIns="0" rIns="0" bIns="0" rtlCol="0" anchor="ctr"/>
          <a:lstStyle/>
          <a:p>
            <a:pPr marL="0" indent="0" algn="ctr" rtl="1">
              <a:buNone/>
            </a:pPr>
            <a:r>
              <a:rPr lang="ar-JO" altLang="en-US" sz="1300" dirty="0">
                <a:solidFill>
                  <a:srgbClr val="13272B"/>
                </a:solidFill>
                <a:latin typeface="Dubai" pitchFamily="34" charset="0"/>
                <a:ea typeface="Dubai" pitchFamily="34" charset="-122"/>
                <a:cs typeface="Dubai" pitchFamily="34" charset="-120"/>
              </a:rPr>
              <a:t>من الناتج المحلي الإجمالي تُنفق على الصحة</a:t>
            </a:r>
            <a:endParaRPr lang="ar-JO" sz="1300" dirty="0"/>
          </a:p>
        </p:txBody>
      </p:sp>
      <p:sp>
        <p:nvSpPr>
          <p:cNvPr id="12" name="Text 10"/>
          <p:cNvSpPr txBox="1"/>
          <p:nvPr/>
        </p:nvSpPr>
        <p:spPr>
          <a:xfrm>
            <a:off x="457200" y="3017520"/>
            <a:ext cx="8229600" cy="365760"/>
          </a:xfrm>
          <a:prstGeom prst="rect">
            <a:avLst/>
          </a:prstGeom>
          <a:noFill/>
          <a:ln/>
        </p:spPr>
        <p:txBody>
          <a:bodyPr wrap="square" lIns="0" tIns="0" rIns="0" bIns="0" rtlCol="0" anchor="ctr"/>
          <a:lstStyle/>
          <a:p>
            <a:pPr marL="0" indent="0" algn="r" rtl="1">
              <a:buNone/>
            </a:pPr>
            <a:r>
              <a:rPr lang="ar-JO" altLang="en-US" sz="1800" b="1" dirty="0">
                <a:solidFill>
                  <a:srgbClr val="13272B"/>
                </a:solidFill>
                <a:latin typeface="Dubai" pitchFamily="34" charset="0"/>
                <a:ea typeface="Dubai" pitchFamily="34" charset="-122"/>
                <a:cs typeface="Dubai" pitchFamily="34" charset="-120"/>
              </a:rPr>
              <a:t>أين قد يظهر الضغط داخل المستشفى؟</a:t>
            </a:r>
            <a:endParaRPr lang="ar-JO" sz="1800" dirty="0"/>
          </a:p>
        </p:txBody>
      </p:sp>
      <p:sp>
        <p:nvSpPr>
          <p:cNvPr id="13" name="Shape 11"/>
          <p:cNvSpPr/>
          <p:nvPr/>
        </p:nvSpPr>
        <p:spPr>
          <a:xfrm>
            <a:off x="6071616" y="3474720"/>
            <a:ext cx="2615184" cy="685800"/>
          </a:xfrm>
          <a:prstGeom prst="roundRect">
            <a:avLst>
              <a:gd name="adj" fmla="val 13333"/>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14" name="Text 12"/>
          <p:cNvSpPr txBox="1"/>
          <p:nvPr/>
        </p:nvSpPr>
        <p:spPr>
          <a:xfrm>
            <a:off x="6163056" y="3474720"/>
            <a:ext cx="2432304" cy="685800"/>
          </a:xfrm>
          <a:prstGeom prst="rect">
            <a:avLst/>
          </a:prstGeom>
          <a:noFill/>
          <a:ln/>
        </p:spPr>
        <p:txBody>
          <a:bodyPr wrap="square" lIns="0" tIns="0" rIns="0" bIns="0" rtlCol="0" anchor="ctr"/>
          <a:lstStyle/>
          <a:p>
            <a:pPr marL="0" indent="0" algn="ctr" rtl="1">
              <a:buNone/>
            </a:pPr>
            <a:r>
              <a:rPr lang="ar-JO" altLang="en-US" sz="1400" b="1" dirty="0">
                <a:solidFill>
                  <a:srgbClr val="0B6B6B"/>
                </a:solidFill>
                <a:latin typeface="Dubai" pitchFamily="34" charset="0"/>
                <a:ea typeface="Dubai" pitchFamily="34" charset="-122"/>
                <a:cs typeface="Dubai" pitchFamily="34" charset="-120"/>
              </a:rPr>
              <a:t>نفاد أدوية أو انتهاء صلاحيتها</a:t>
            </a:r>
            <a:endParaRPr lang="ar-JO" sz="1400" dirty="0"/>
          </a:p>
        </p:txBody>
      </p:sp>
      <p:sp>
        <p:nvSpPr>
          <p:cNvPr id="15" name="Shape 13"/>
          <p:cNvSpPr/>
          <p:nvPr/>
        </p:nvSpPr>
        <p:spPr>
          <a:xfrm>
            <a:off x="3264408" y="3474720"/>
            <a:ext cx="2615184" cy="685800"/>
          </a:xfrm>
          <a:prstGeom prst="roundRect">
            <a:avLst>
              <a:gd name="adj" fmla="val 13333"/>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16" name="Text 14"/>
          <p:cNvSpPr txBox="1"/>
          <p:nvPr/>
        </p:nvSpPr>
        <p:spPr>
          <a:xfrm>
            <a:off x="3355848" y="3474720"/>
            <a:ext cx="2432304" cy="685800"/>
          </a:xfrm>
          <a:prstGeom prst="rect">
            <a:avLst/>
          </a:prstGeom>
          <a:noFill/>
          <a:ln/>
        </p:spPr>
        <p:txBody>
          <a:bodyPr wrap="square" lIns="0" tIns="0" rIns="0" bIns="0" rtlCol="0" anchor="ctr"/>
          <a:lstStyle/>
          <a:p>
            <a:pPr marL="0" indent="0" algn="ctr" rtl="1">
              <a:buNone/>
            </a:pPr>
            <a:r>
              <a:rPr lang="ar-JO" altLang="en-US" sz="1400" b="1" dirty="0">
                <a:solidFill>
                  <a:srgbClr val="0B6B6B"/>
                </a:solidFill>
                <a:latin typeface="Dubai" pitchFamily="34" charset="0"/>
                <a:ea typeface="Dubai" pitchFamily="34" charset="-122"/>
                <a:cs typeface="Dubai" pitchFamily="34" charset="-120"/>
              </a:rPr>
              <a:t>غياب عن المواعيد وازدحام العيادات</a:t>
            </a:r>
            <a:endParaRPr lang="ar-JO" sz="1400" dirty="0"/>
          </a:p>
        </p:txBody>
      </p:sp>
      <p:sp>
        <p:nvSpPr>
          <p:cNvPr id="17" name="Shape 15"/>
          <p:cNvSpPr/>
          <p:nvPr/>
        </p:nvSpPr>
        <p:spPr>
          <a:xfrm>
            <a:off x="457200" y="3474720"/>
            <a:ext cx="2615184" cy="685800"/>
          </a:xfrm>
          <a:prstGeom prst="roundRect">
            <a:avLst>
              <a:gd name="adj" fmla="val 13333"/>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18" name="Text 16"/>
          <p:cNvSpPr txBox="1"/>
          <p:nvPr/>
        </p:nvSpPr>
        <p:spPr>
          <a:xfrm>
            <a:off x="548640" y="3474720"/>
            <a:ext cx="2432304" cy="685800"/>
          </a:xfrm>
          <a:prstGeom prst="rect">
            <a:avLst/>
          </a:prstGeom>
          <a:noFill/>
          <a:ln/>
        </p:spPr>
        <p:txBody>
          <a:bodyPr wrap="square" lIns="0" tIns="0" rIns="0" bIns="0" rtlCol="0" anchor="ctr"/>
          <a:lstStyle/>
          <a:p>
            <a:pPr marL="0" indent="0" algn="ctr" rtl="1">
              <a:buNone/>
            </a:pPr>
            <a:r>
              <a:rPr lang="ar-JO" altLang="en-US" sz="1400" b="1" dirty="0">
                <a:solidFill>
                  <a:srgbClr val="0B6B6B"/>
                </a:solidFill>
                <a:latin typeface="Dubai" pitchFamily="34" charset="0"/>
                <a:ea typeface="Dubai" pitchFamily="34" charset="-122"/>
                <a:cs typeface="Dubai" pitchFamily="34" charset="-120"/>
              </a:rPr>
              <a:t>ضغط غير متوازن على الأسرّة</a:t>
            </a:r>
            <a:endParaRPr lang="ar-JO" sz="1400" dirty="0"/>
          </a:p>
        </p:txBody>
      </p:sp>
      <p:sp>
        <p:nvSpPr>
          <p:cNvPr id="19" name="Text 17"/>
          <p:cNvSpPr txBox="1"/>
          <p:nvPr/>
        </p:nvSpPr>
        <p:spPr>
          <a:xfrm>
            <a:off x="457200" y="4297680"/>
            <a:ext cx="8229600" cy="320040"/>
          </a:xfrm>
          <a:prstGeom prst="rect">
            <a:avLst/>
          </a:prstGeom>
          <a:noFill/>
          <a:ln/>
        </p:spPr>
        <p:txBody>
          <a:bodyPr wrap="square" lIns="0" tIns="0" rIns="0" bIns="0" rtlCol="0" anchor="ctr"/>
          <a:lstStyle/>
          <a:p>
            <a:pPr marL="0" indent="0" algn="r" rtl="1">
              <a:buNone/>
            </a:pPr>
            <a:r>
              <a:rPr lang="ar-JO" altLang="en-US" sz="1100" dirty="0">
                <a:solidFill>
                  <a:srgbClr val="13272B"/>
                </a:solidFill>
                <a:latin typeface="Dubai" pitchFamily="34" charset="0"/>
                <a:ea typeface="Dubai" pitchFamily="34" charset="-122"/>
                <a:cs typeface="Dubai" pitchFamily="34" charset="-120"/>
              </a:rPr>
              <a:t>هذه مخاطر محتملة في إدارة الموارد، ولا ندّعي حدوثها بالمعدل نفسه في كل مستشفى.</a:t>
            </a:r>
            <a:endParaRPr lang="ar-JO" sz="1100" dirty="0"/>
          </a:p>
        </p:txBody>
      </p:sp>
      <p:sp>
        <p:nvSpPr>
          <p:cNvPr id="20" name="Text 18"/>
          <p:cNvSpPr txBox="1"/>
          <p:nvPr/>
        </p:nvSpPr>
        <p:spPr>
          <a:xfrm>
            <a:off x="457200" y="4663440"/>
            <a:ext cx="8229600" cy="32004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المصدر: Tamimi et al., "The transformation of Jordan's healthcare system in an area of conflict", BMC Health Services Research 24:1033 (2024)</a:t>
            </a:r>
            <a:endParaRPr lang="ar-JO"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من يتأثر؟</a:t>
            </a:r>
            <a:endParaRPr lang="ar-JO" sz="3000" dirty="0"/>
          </a:p>
        </p:txBody>
      </p:sp>
      <p:sp>
        <p:nvSpPr>
          <p:cNvPr id="3" name="Shape 1"/>
          <p:cNvSpPr/>
          <p:nvPr/>
        </p:nvSpPr>
        <p:spPr>
          <a:xfrm>
            <a:off x="6766560" y="1188720"/>
            <a:ext cx="1920240" cy="3200400"/>
          </a:xfrm>
          <a:prstGeom prst="roundRect">
            <a:avLst>
              <a:gd name="adj" fmla="val 4762"/>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4" name="Shape 2"/>
          <p:cNvSpPr/>
          <p:nvPr/>
        </p:nvSpPr>
        <p:spPr>
          <a:xfrm>
            <a:off x="7360920" y="1371600"/>
            <a:ext cx="731520" cy="731520"/>
          </a:xfrm>
          <a:prstGeom prst="ellipse">
            <a:avLst/>
          </a:prstGeom>
          <a:solidFill>
            <a:srgbClr val="0B6B6B"/>
          </a:solidFill>
          <a:ln w="12700">
            <a:solidFill>
              <a:srgbClr val="0B6B6B"/>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516368" y="1527048"/>
            <a:ext cx="420624" cy="420624"/>
          </a:xfrm>
          <a:prstGeom prst="rect">
            <a:avLst/>
          </a:prstGeom>
        </p:spPr>
      </p:pic>
      <p:sp>
        <p:nvSpPr>
          <p:cNvPr id="6" name="Text 3"/>
          <p:cNvSpPr txBox="1"/>
          <p:nvPr/>
        </p:nvSpPr>
        <p:spPr>
          <a:xfrm>
            <a:off x="6858000" y="2240280"/>
            <a:ext cx="1737360" cy="365760"/>
          </a:xfrm>
          <a:prstGeom prst="rect">
            <a:avLst/>
          </a:prstGeom>
          <a:noFill/>
          <a:ln/>
        </p:spPr>
        <p:txBody>
          <a:bodyPr wrap="square" lIns="0" tIns="0" rIns="0" bIns="0" rtlCol="0" anchor="ctr"/>
          <a:lstStyle/>
          <a:p>
            <a:pPr marL="0" indent="0" algn="ctr" rtl="1">
              <a:buNone/>
            </a:pPr>
            <a:r>
              <a:rPr lang="ar-JO" altLang="en-US" sz="1700" b="1" dirty="0">
                <a:solidFill>
                  <a:srgbClr val="13272B"/>
                </a:solidFill>
                <a:latin typeface="Dubai" pitchFamily="34" charset="0"/>
                <a:ea typeface="Dubai" pitchFamily="34" charset="-122"/>
                <a:cs typeface="Dubai" pitchFamily="34" charset="-120"/>
              </a:rPr>
              <a:t>المرضى</a:t>
            </a:r>
            <a:endParaRPr lang="ar-JO" sz="1700" dirty="0"/>
          </a:p>
        </p:txBody>
      </p:sp>
      <p:sp>
        <p:nvSpPr>
          <p:cNvPr id="7" name="Text 4"/>
          <p:cNvSpPr txBox="1"/>
          <p:nvPr/>
        </p:nvSpPr>
        <p:spPr>
          <a:xfrm>
            <a:off x="6876288" y="2651760"/>
            <a:ext cx="1700784" cy="1005840"/>
          </a:xfrm>
          <a:prstGeom prst="rect">
            <a:avLst/>
          </a:prstGeom>
          <a:noFill/>
          <a:ln/>
        </p:spPr>
        <p:txBody>
          <a:bodyPr wrap="square" lIns="0" tIns="0" rIns="0" bIns="0" rtlCol="0" anchor="ctr"/>
          <a:lstStyle/>
          <a:p>
            <a:pPr marL="0" indent="0" algn="ctr" rtl="1">
              <a:buNone/>
            </a:pPr>
            <a:r>
              <a:rPr lang="ar-JO" altLang="en-US" sz="1400" dirty="0">
                <a:solidFill>
                  <a:srgbClr val="13272B"/>
                </a:solidFill>
                <a:latin typeface="Dubai" pitchFamily="34" charset="0"/>
                <a:ea typeface="Dubai" pitchFamily="34" charset="-122"/>
                <a:cs typeface="Dubai" pitchFamily="34" charset="-120"/>
              </a:rPr>
              <a:t>تأخر العلاج بسبب نقص دواء أو طول انتظار الموعد</a:t>
            </a:r>
            <a:endParaRPr lang="ar-JO" sz="1400" dirty="0"/>
          </a:p>
        </p:txBody>
      </p:sp>
      <p:sp>
        <p:nvSpPr>
          <p:cNvPr id="8" name="Shape 5"/>
          <p:cNvSpPr/>
          <p:nvPr/>
        </p:nvSpPr>
        <p:spPr>
          <a:xfrm>
            <a:off x="6858000" y="3749040"/>
            <a:ext cx="1737360" cy="502920"/>
          </a:xfrm>
          <a:prstGeom prst="roundRect">
            <a:avLst>
              <a:gd name="adj" fmla="val 18182"/>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9" name="Text 6"/>
          <p:cNvSpPr txBox="1"/>
          <p:nvPr/>
        </p:nvSpPr>
        <p:spPr>
          <a:xfrm>
            <a:off x="6858000" y="3749040"/>
            <a:ext cx="1737360" cy="502920"/>
          </a:xfrm>
          <a:prstGeom prst="rect">
            <a:avLst/>
          </a:prstGeom>
          <a:noFill/>
          <a:ln/>
        </p:spPr>
        <p:txBody>
          <a:bodyPr wrap="square" lIns="0" tIns="0" rIns="0" bIns="0" rtlCol="0" anchor="ctr"/>
          <a:lstStyle/>
          <a:p>
            <a:pPr marL="0" indent="0" algn="ctr" rtl="1">
              <a:buNone/>
            </a:pPr>
            <a:r>
              <a:rPr lang="ar-JO" altLang="en-US" sz="1200" b="1" dirty="0">
                <a:solidFill>
                  <a:srgbClr val="0B6B6B"/>
                </a:solidFill>
                <a:latin typeface="Dubai" pitchFamily="34" charset="0"/>
                <a:ea typeface="Dubai" pitchFamily="34" charset="-122"/>
                <a:cs typeface="Dubai" pitchFamily="34" charset="-120"/>
              </a:rPr>
              <a:t>وحدتا الأدوية والمواعيد</a:t>
            </a:r>
            <a:endParaRPr lang="ar-JO" sz="1200" dirty="0"/>
          </a:p>
        </p:txBody>
      </p:sp>
      <p:sp>
        <p:nvSpPr>
          <p:cNvPr id="10" name="Shape 7"/>
          <p:cNvSpPr/>
          <p:nvPr/>
        </p:nvSpPr>
        <p:spPr>
          <a:xfrm>
            <a:off x="4663440" y="1188720"/>
            <a:ext cx="1920240" cy="3200400"/>
          </a:xfrm>
          <a:prstGeom prst="roundRect">
            <a:avLst>
              <a:gd name="adj" fmla="val 4762"/>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1" name="Shape 8"/>
          <p:cNvSpPr/>
          <p:nvPr/>
        </p:nvSpPr>
        <p:spPr>
          <a:xfrm>
            <a:off x="5257800" y="1371600"/>
            <a:ext cx="731520" cy="731520"/>
          </a:xfrm>
          <a:prstGeom prst="ellipse">
            <a:avLst/>
          </a:prstGeom>
          <a:solidFill>
            <a:srgbClr val="0B6B6B"/>
          </a:solidFill>
          <a:ln w="12700">
            <a:solidFill>
              <a:srgbClr val="0B6B6B"/>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5413248" y="1527048"/>
            <a:ext cx="420624" cy="420624"/>
          </a:xfrm>
          <a:prstGeom prst="rect">
            <a:avLst/>
          </a:prstGeom>
        </p:spPr>
      </p:pic>
      <p:sp>
        <p:nvSpPr>
          <p:cNvPr id="13" name="Text 9"/>
          <p:cNvSpPr txBox="1"/>
          <p:nvPr/>
        </p:nvSpPr>
        <p:spPr>
          <a:xfrm>
            <a:off x="4754880" y="2240280"/>
            <a:ext cx="1737360" cy="365760"/>
          </a:xfrm>
          <a:prstGeom prst="rect">
            <a:avLst/>
          </a:prstGeom>
          <a:noFill/>
          <a:ln/>
        </p:spPr>
        <p:txBody>
          <a:bodyPr wrap="square" lIns="0" tIns="0" rIns="0" bIns="0" rtlCol="0" anchor="ctr"/>
          <a:lstStyle/>
          <a:p>
            <a:pPr marL="0" indent="0" algn="ctr" rtl="1">
              <a:buNone/>
            </a:pPr>
            <a:r>
              <a:rPr lang="ar-JO" altLang="en-US" sz="1700" b="1" dirty="0">
                <a:solidFill>
                  <a:srgbClr val="13272B"/>
                </a:solidFill>
                <a:latin typeface="Dubai" pitchFamily="34" charset="0"/>
                <a:ea typeface="Dubai" pitchFamily="34" charset="-122"/>
                <a:cs typeface="Dubai" pitchFamily="34" charset="-120"/>
              </a:rPr>
              <a:t>الصيادلة</a:t>
            </a:r>
            <a:endParaRPr lang="ar-JO" sz="1700" dirty="0"/>
          </a:p>
        </p:txBody>
      </p:sp>
      <p:sp>
        <p:nvSpPr>
          <p:cNvPr id="14" name="Text 10"/>
          <p:cNvSpPr txBox="1"/>
          <p:nvPr/>
        </p:nvSpPr>
        <p:spPr>
          <a:xfrm>
            <a:off x="4773168" y="2651760"/>
            <a:ext cx="1700784" cy="1005840"/>
          </a:xfrm>
          <a:prstGeom prst="rect">
            <a:avLst/>
          </a:prstGeom>
          <a:noFill/>
          <a:ln/>
        </p:spPr>
        <p:txBody>
          <a:bodyPr wrap="square" lIns="0" tIns="0" rIns="0" bIns="0" rtlCol="0" anchor="ctr"/>
          <a:lstStyle/>
          <a:p>
            <a:pPr marL="0" indent="0" algn="ctr" rtl="1">
              <a:buNone/>
            </a:pPr>
            <a:r>
              <a:rPr lang="ar-JO" altLang="en-US" sz="1400" dirty="0">
                <a:solidFill>
                  <a:srgbClr val="13272B"/>
                </a:solidFill>
                <a:latin typeface="Dubai" pitchFamily="34" charset="0"/>
                <a:ea typeface="Dubai" pitchFamily="34" charset="-122"/>
                <a:cs typeface="Dubai" pitchFamily="34" charset="-120"/>
              </a:rPr>
              <a:t>متابعة يدوية للمخزون وتواريخ الانتهاء</a:t>
            </a:r>
            <a:endParaRPr lang="ar-JO" sz="1400" dirty="0"/>
          </a:p>
        </p:txBody>
      </p:sp>
      <p:sp>
        <p:nvSpPr>
          <p:cNvPr id="15" name="Shape 11"/>
          <p:cNvSpPr/>
          <p:nvPr/>
        </p:nvSpPr>
        <p:spPr>
          <a:xfrm>
            <a:off x="4754880" y="3749040"/>
            <a:ext cx="1737360" cy="502920"/>
          </a:xfrm>
          <a:prstGeom prst="roundRect">
            <a:avLst>
              <a:gd name="adj" fmla="val 18182"/>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16" name="Text 12"/>
          <p:cNvSpPr txBox="1"/>
          <p:nvPr/>
        </p:nvSpPr>
        <p:spPr>
          <a:xfrm>
            <a:off x="4754880" y="3749040"/>
            <a:ext cx="1737360" cy="502920"/>
          </a:xfrm>
          <a:prstGeom prst="rect">
            <a:avLst/>
          </a:prstGeom>
          <a:noFill/>
          <a:ln/>
        </p:spPr>
        <p:txBody>
          <a:bodyPr wrap="square" lIns="0" tIns="0" rIns="0" bIns="0" rtlCol="0" anchor="ctr"/>
          <a:lstStyle/>
          <a:p>
            <a:pPr marL="0" indent="0" algn="ctr" rtl="1">
              <a:buNone/>
            </a:pPr>
            <a:r>
              <a:rPr lang="ar-JO" altLang="en-US" sz="1200" b="1" dirty="0">
                <a:solidFill>
                  <a:srgbClr val="0B6B6B"/>
                </a:solidFill>
                <a:latin typeface="Dubai" pitchFamily="34" charset="0"/>
                <a:ea typeface="Dubai" pitchFamily="34" charset="-122"/>
                <a:cs typeface="Dubai" pitchFamily="34" charset="-120"/>
              </a:rPr>
              <a:t>تنبيه الانتهاء ونقل الفائض</a:t>
            </a:r>
            <a:endParaRPr lang="ar-JO" sz="1200" dirty="0"/>
          </a:p>
        </p:txBody>
      </p:sp>
      <p:sp>
        <p:nvSpPr>
          <p:cNvPr id="17" name="Shape 13"/>
          <p:cNvSpPr/>
          <p:nvPr/>
        </p:nvSpPr>
        <p:spPr>
          <a:xfrm>
            <a:off x="2560320" y="1188720"/>
            <a:ext cx="1920240" cy="3200400"/>
          </a:xfrm>
          <a:prstGeom prst="roundRect">
            <a:avLst>
              <a:gd name="adj" fmla="val 4762"/>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8" name="Shape 14"/>
          <p:cNvSpPr/>
          <p:nvPr/>
        </p:nvSpPr>
        <p:spPr>
          <a:xfrm>
            <a:off x="3154680" y="1371600"/>
            <a:ext cx="731520" cy="731520"/>
          </a:xfrm>
          <a:prstGeom prst="ellipse">
            <a:avLst/>
          </a:prstGeom>
          <a:solidFill>
            <a:srgbClr val="0B6B6B"/>
          </a:solidFill>
          <a:ln w="12700">
            <a:solidFill>
              <a:srgbClr val="0B6B6B"/>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3310128" y="1527048"/>
            <a:ext cx="420624" cy="420624"/>
          </a:xfrm>
          <a:prstGeom prst="rect">
            <a:avLst/>
          </a:prstGeom>
        </p:spPr>
      </p:pic>
      <p:sp>
        <p:nvSpPr>
          <p:cNvPr id="20" name="Text 15"/>
          <p:cNvSpPr txBox="1"/>
          <p:nvPr/>
        </p:nvSpPr>
        <p:spPr>
          <a:xfrm>
            <a:off x="2651760" y="2240280"/>
            <a:ext cx="1737360" cy="365760"/>
          </a:xfrm>
          <a:prstGeom prst="rect">
            <a:avLst/>
          </a:prstGeom>
          <a:noFill/>
          <a:ln/>
        </p:spPr>
        <p:txBody>
          <a:bodyPr wrap="square" lIns="0" tIns="0" rIns="0" bIns="0" rtlCol="0" anchor="ctr"/>
          <a:lstStyle/>
          <a:p>
            <a:pPr marL="0" indent="0" algn="ctr" rtl="1">
              <a:buNone/>
            </a:pPr>
            <a:r>
              <a:rPr lang="ar-JO" altLang="en-US" sz="1700" b="1" dirty="0">
                <a:solidFill>
                  <a:srgbClr val="13272B"/>
                </a:solidFill>
                <a:latin typeface="Dubai" pitchFamily="34" charset="0"/>
                <a:ea typeface="Dubai" pitchFamily="34" charset="-122"/>
                <a:cs typeface="Dubai" pitchFamily="34" charset="-120"/>
              </a:rPr>
              <a:t>إدارات المستشفيات</a:t>
            </a:r>
            <a:endParaRPr lang="ar-JO" sz="1700" dirty="0"/>
          </a:p>
        </p:txBody>
      </p:sp>
      <p:sp>
        <p:nvSpPr>
          <p:cNvPr id="21" name="Text 16"/>
          <p:cNvSpPr txBox="1"/>
          <p:nvPr/>
        </p:nvSpPr>
        <p:spPr>
          <a:xfrm>
            <a:off x="2670048" y="2651760"/>
            <a:ext cx="1700784" cy="1005840"/>
          </a:xfrm>
          <a:prstGeom prst="rect">
            <a:avLst/>
          </a:prstGeom>
          <a:noFill/>
          <a:ln/>
        </p:spPr>
        <p:txBody>
          <a:bodyPr wrap="square" lIns="0" tIns="0" rIns="0" bIns="0" rtlCol="0" anchor="ctr"/>
          <a:lstStyle/>
          <a:p>
            <a:pPr marL="0" indent="0" algn="ctr" rtl="1">
              <a:buNone/>
            </a:pPr>
            <a:r>
              <a:rPr lang="ar-JO" altLang="en-US" sz="1400" dirty="0">
                <a:solidFill>
                  <a:srgbClr val="13272B"/>
                </a:solidFill>
                <a:latin typeface="Dubai" pitchFamily="34" charset="0"/>
                <a:ea typeface="Dubai" pitchFamily="34" charset="-122"/>
                <a:cs typeface="Dubai" pitchFamily="34" charset="-120"/>
              </a:rPr>
              <a:t>رؤية متأخرة لمخاطر المخزون والسعة</a:t>
            </a:r>
            <a:endParaRPr lang="ar-JO" sz="1400" dirty="0"/>
          </a:p>
        </p:txBody>
      </p:sp>
      <p:sp>
        <p:nvSpPr>
          <p:cNvPr id="22" name="Shape 17"/>
          <p:cNvSpPr/>
          <p:nvPr/>
        </p:nvSpPr>
        <p:spPr>
          <a:xfrm>
            <a:off x="2651760" y="3749040"/>
            <a:ext cx="1737360" cy="502920"/>
          </a:xfrm>
          <a:prstGeom prst="roundRect">
            <a:avLst>
              <a:gd name="adj" fmla="val 18182"/>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23" name="Text 18"/>
          <p:cNvSpPr txBox="1"/>
          <p:nvPr/>
        </p:nvSpPr>
        <p:spPr>
          <a:xfrm>
            <a:off x="2651760" y="3749040"/>
            <a:ext cx="1737360" cy="502920"/>
          </a:xfrm>
          <a:prstGeom prst="rect">
            <a:avLst/>
          </a:prstGeom>
          <a:noFill/>
          <a:ln/>
        </p:spPr>
        <p:txBody>
          <a:bodyPr wrap="square" lIns="0" tIns="0" rIns="0" bIns="0" rtlCol="0" anchor="ctr"/>
          <a:lstStyle/>
          <a:p>
            <a:pPr marL="0" indent="0" algn="ctr" rtl="1">
              <a:buNone/>
            </a:pPr>
            <a:r>
              <a:rPr lang="ar-JO" altLang="en-US" sz="1200" b="1" dirty="0">
                <a:solidFill>
                  <a:srgbClr val="0B6B6B"/>
                </a:solidFill>
                <a:latin typeface="Dubai" pitchFamily="34" charset="0"/>
                <a:ea typeface="Dubai" pitchFamily="34" charset="-122"/>
                <a:cs typeface="Dubai" pitchFamily="34" charset="-120"/>
              </a:rPr>
              <a:t>لوحة موحدة وتوصيات</a:t>
            </a:r>
            <a:endParaRPr lang="ar-JO" sz="1200" dirty="0"/>
          </a:p>
        </p:txBody>
      </p:sp>
      <p:sp>
        <p:nvSpPr>
          <p:cNvPr id="24" name="Shape 19"/>
          <p:cNvSpPr/>
          <p:nvPr/>
        </p:nvSpPr>
        <p:spPr>
          <a:xfrm>
            <a:off x="457200" y="1188720"/>
            <a:ext cx="1920240" cy="3200400"/>
          </a:xfrm>
          <a:prstGeom prst="roundRect">
            <a:avLst>
              <a:gd name="adj" fmla="val 4762"/>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25" name="Shape 20"/>
          <p:cNvSpPr/>
          <p:nvPr/>
        </p:nvSpPr>
        <p:spPr>
          <a:xfrm>
            <a:off x="1051560" y="1371600"/>
            <a:ext cx="731520" cy="731520"/>
          </a:xfrm>
          <a:prstGeom prst="ellipse">
            <a:avLst/>
          </a:prstGeom>
          <a:solidFill>
            <a:srgbClr val="0B6B6B"/>
          </a:solidFill>
          <a:ln w="12700">
            <a:solidFill>
              <a:srgbClr val="0B6B6B"/>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1207008" y="1527048"/>
            <a:ext cx="420624" cy="420624"/>
          </a:xfrm>
          <a:prstGeom prst="rect">
            <a:avLst/>
          </a:prstGeom>
        </p:spPr>
      </p:pic>
      <p:sp>
        <p:nvSpPr>
          <p:cNvPr id="27" name="Text 21"/>
          <p:cNvSpPr txBox="1"/>
          <p:nvPr/>
        </p:nvSpPr>
        <p:spPr>
          <a:xfrm>
            <a:off x="548640" y="2240280"/>
            <a:ext cx="1737360" cy="365760"/>
          </a:xfrm>
          <a:prstGeom prst="rect">
            <a:avLst/>
          </a:prstGeom>
          <a:noFill/>
          <a:ln/>
        </p:spPr>
        <p:txBody>
          <a:bodyPr wrap="square" lIns="0" tIns="0" rIns="0" bIns="0" rtlCol="0" anchor="ctr"/>
          <a:lstStyle/>
          <a:p>
            <a:pPr marL="0" indent="0" algn="ctr" rtl="1">
              <a:buNone/>
            </a:pPr>
            <a:r>
              <a:rPr lang="ar-JO" altLang="en-US" sz="1700" b="1" dirty="0">
                <a:solidFill>
                  <a:srgbClr val="13272B"/>
                </a:solidFill>
                <a:latin typeface="Dubai" pitchFamily="34" charset="0"/>
                <a:ea typeface="Dubai" pitchFamily="34" charset="-122"/>
                <a:cs typeface="Dubai" pitchFamily="34" charset="-120"/>
              </a:rPr>
              <a:t>الكوادر الطبية</a:t>
            </a:r>
            <a:endParaRPr lang="ar-JO" sz="1700" dirty="0"/>
          </a:p>
        </p:txBody>
      </p:sp>
      <p:sp>
        <p:nvSpPr>
          <p:cNvPr id="28" name="Text 22"/>
          <p:cNvSpPr txBox="1"/>
          <p:nvPr/>
        </p:nvSpPr>
        <p:spPr>
          <a:xfrm>
            <a:off x="566928" y="2651760"/>
            <a:ext cx="1700784" cy="1005840"/>
          </a:xfrm>
          <a:prstGeom prst="rect">
            <a:avLst/>
          </a:prstGeom>
          <a:noFill/>
          <a:ln/>
        </p:spPr>
        <p:txBody>
          <a:bodyPr wrap="square" lIns="0" tIns="0" rIns="0" bIns="0" rtlCol="0" anchor="ctr"/>
          <a:lstStyle/>
          <a:p>
            <a:pPr marL="0" indent="0" algn="ctr" rtl="1">
              <a:buNone/>
            </a:pPr>
            <a:r>
              <a:rPr lang="ar-JO" altLang="en-US" sz="1400" dirty="0">
                <a:solidFill>
                  <a:srgbClr val="13272B"/>
                </a:solidFill>
                <a:latin typeface="Dubai" pitchFamily="34" charset="0"/>
                <a:ea typeface="Dubai" pitchFamily="34" charset="-122"/>
                <a:cs typeface="Dubai" pitchFamily="34" charset="-120"/>
              </a:rPr>
              <a:t>ازدحام العيادات والأقسام وضغط على الكوادر</a:t>
            </a:r>
            <a:endParaRPr lang="ar-JO" sz="1400" dirty="0"/>
          </a:p>
        </p:txBody>
      </p:sp>
      <p:sp>
        <p:nvSpPr>
          <p:cNvPr id="29" name="Shape 23"/>
          <p:cNvSpPr/>
          <p:nvPr/>
        </p:nvSpPr>
        <p:spPr>
          <a:xfrm>
            <a:off x="548640" y="3749040"/>
            <a:ext cx="1737360" cy="502920"/>
          </a:xfrm>
          <a:prstGeom prst="roundRect">
            <a:avLst>
              <a:gd name="adj" fmla="val 18182"/>
            </a:avLst>
          </a:prstGeom>
          <a:solidFill>
            <a:srgbClr val="DCEEED"/>
          </a:solidFill>
          <a:ln w="9525">
            <a:solidFill>
              <a:srgbClr val="DCEEED"/>
            </a:solidFill>
            <a:prstDash val="solid"/>
          </a:ln>
          <a:effectLst>
            <a:outerShdw blurRad="101600" dist="25400" dir="5400000" algn="bl" rotWithShape="0">
              <a:srgbClr val="0B3B3B">
                <a:alpha val="10000"/>
              </a:srgbClr>
            </a:outerShdw>
          </a:effectLst>
        </p:spPr>
        <p:txBody>
          <a:bodyPr/>
          <a:lstStyle/>
          <a:p>
            <a:endParaRPr lang="en-US"/>
          </a:p>
        </p:txBody>
      </p:sp>
      <p:sp>
        <p:nvSpPr>
          <p:cNvPr id="30" name="Text 24"/>
          <p:cNvSpPr txBox="1"/>
          <p:nvPr/>
        </p:nvSpPr>
        <p:spPr>
          <a:xfrm>
            <a:off x="548640" y="3749040"/>
            <a:ext cx="1737360" cy="502920"/>
          </a:xfrm>
          <a:prstGeom prst="rect">
            <a:avLst/>
          </a:prstGeom>
          <a:noFill/>
          <a:ln/>
        </p:spPr>
        <p:txBody>
          <a:bodyPr wrap="square" lIns="0" tIns="0" rIns="0" bIns="0" rtlCol="0" anchor="ctr"/>
          <a:lstStyle/>
          <a:p>
            <a:pPr marL="0" indent="0" algn="ctr" rtl="1">
              <a:buNone/>
            </a:pPr>
            <a:r>
              <a:rPr lang="ar-JO" altLang="en-US" sz="1200" b="1" dirty="0">
                <a:solidFill>
                  <a:srgbClr val="0B6B6B"/>
                </a:solidFill>
                <a:latin typeface="Dubai" pitchFamily="34" charset="0"/>
                <a:ea typeface="Dubai" pitchFamily="34" charset="-122"/>
                <a:cs typeface="Dubai" pitchFamily="34" charset="-120"/>
              </a:rPr>
              <a:t>توقع الغياب والإشغال</a:t>
            </a:r>
            <a:endParaRPr lang="ar-JO" sz="1200" dirty="0"/>
          </a:p>
        </p:txBody>
      </p:sp>
      <p:sp>
        <p:nvSpPr>
          <p:cNvPr id="31" name="Text 25"/>
          <p:cNvSpPr txBox="1"/>
          <p:nvPr/>
        </p:nvSpPr>
        <p:spPr>
          <a:xfrm>
            <a:off x="457200" y="4617720"/>
            <a:ext cx="8229600" cy="32004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الأثر المذكور محتمل ويختلف من منشأة إلى أخرى.</a:t>
            </a:r>
            <a:endParaRPr lang="ar-JO"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منصة واحدة: من البيانات إلى القرار</a:t>
            </a:r>
            <a:endParaRPr lang="ar-JO" sz="3000" dirty="0"/>
          </a:p>
        </p:txBody>
      </p:sp>
      <p:sp>
        <p:nvSpPr>
          <p:cNvPr id="3" name="Shape 1"/>
          <p:cNvSpPr/>
          <p:nvPr/>
        </p:nvSpPr>
        <p:spPr>
          <a:xfrm>
            <a:off x="6766560" y="1188720"/>
            <a:ext cx="1828800" cy="685800"/>
          </a:xfrm>
          <a:prstGeom prst="roundRect">
            <a:avLst>
              <a:gd name="adj" fmla="val 49333"/>
            </a:avLst>
          </a:prstGeom>
          <a:solidFill>
            <a:srgbClr val="DCEEED"/>
          </a:solidFill>
          <a:ln w="9525">
            <a:solidFill>
              <a:srgbClr val="0B6B6B"/>
            </a:solidFill>
            <a:prstDash val="solid"/>
          </a:ln>
          <a:effectLst>
            <a:outerShdw blurRad="101600" dist="25400" dir="5400000" algn="bl" rotWithShape="0">
              <a:srgbClr val="0B3B3B">
                <a:alpha val="10000"/>
              </a:srgbClr>
            </a:outerShdw>
          </a:effectLst>
        </p:spPr>
        <p:txBody>
          <a:bodyPr/>
          <a:lstStyle/>
          <a:p>
            <a:endParaRPr lang="en-US"/>
          </a:p>
        </p:txBody>
      </p:sp>
      <p:sp>
        <p:nvSpPr>
          <p:cNvPr id="4" name="Text 2"/>
          <p:cNvSpPr txBox="1"/>
          <p:nvPr/>
        </p:nvSpPr>
        <p:spPr>
          <a:xfrm>
            <a:off x="6766560" y="1188720"/>
            <a:ext cx="1828800" cy="685800"/>
          </a:xfrm>
          <a:prstGeom prst="rect">
            <a:avLst/>
          </a:prstGeom>
          <a:noFill/>
          <a:ln/>
        </p:spPr>
        <p:txBody>
          <a:bodyPr wrap="square" lIns="0" tIns="0" rIns="0" bIns="0" rtlCol="0" anchor="ctr"/>
          <a:lstStyle/>
          <a:p>
            <a:pPr marL="0" indent="0" algn="ctr" rtl="1">
              <a:buNone/>
            </a:pPr>
            <a:r>
              <a:rPr lang="ar-JO" altLang="en-US" sz="1600" b="1" dirty="0">
                <a:solidFill>
                  <a:srgbClr val="0B6B6B"/>
                </a:solidFill>
                <a:latin typeface="Dubai" pitchFamily="34" charset="0"/>
                <a:ea typeface="Dubai" pitchFamily="34" charset="-122"/>
                <a:cs typeface="Dubai" pitchFamily="34" charset="-120"/>
              </a:rPr>
              <a:t>البيانات</a:t>
            </a:r>
            <a:endParaRPr lang="ar-JO" sz="1600" dirty="0"/>
          </a:p>
        </p:txBody>
      </p:sp>
      <p:sp>
        <p:nvSpPr>
          <p:cNvPr id="5" name="Shape 3"/>
          <p:cNvSpPr/>
          <p:nvPr/>
        </p:nvSpPr>
        <p:spPr>
          <a:xfrm>
            <a:off x="6519672" y="1417320"/>
            <a:ext cx="228600" cy="228600"/>
          </a:xfrm>
          <a:prstGeom prst="leftArrow">
            <a:avLst/>
          </a:prstGeom>
          <a:solidFill>
            <a:srgbClr val="0B6B6B"/>
          </a:solidFill>
          <a:ln w="12700">
            <a:solidFill>
              <a:srgbClr val="0B6B6B"/>
            </a:solidFill>
            <a:prstDash val="solid"/>
          </a:ln>
        </p:spPr>
        <p:txBody>
          <a:bodyPr/>
          <a:lstStyle/>
          <a:p>
            <a:endParaRPr lang="en-US"/>
          </a:p>
        </p:txBody>
      </p:sp>
      <p:sp>
        <p:nvSpPr>
          <p:cNvPr id="6" name="Shape 4"/>
          <p:cNvSpPr/>
          <p:nvPr/>
        </p:nvSpPr>
        <p:spPr>
          <a:xfrm>
            <a:off x="4663440" y="1188720"/>
            <a:ext cx="1828800" cy="685800"/>
          </a:xfrm>
          <a:prstGeom prst="roundRect">
            <a:avLst>
              <a:gd name="adj" fmla="val 49333"/>
            </a:avLst>
          </a:prstGeom>
          <a:solidFill>
            <a:srgbClr val="DCEEED"/>
          </a:solidFill>
          <a:ln w="9525">
            <a:solidFill>
              <a:srgbClr val="0B6B6B"/>
            </a:solidFill>
            <a:prstDash val="solid"/>
          </a:ln>
          <a:effectLst>
            <a:outerShdw blurRad="101600" dist="25400" dir="5400000" algn="bl" rotWithShape="0">
              <a:srgbClr val="0B3B3B">
                <a:alpha val="10000"/>
              </a:srgbClr>
            </a:outerShdw>
          </a:effectLst>
        </p:spPr>
        <p:txBody>
          <a:bodyPr/>
          <a:lstStyle/>
          <a:p>
            <a:endParaRPr lang="en-US"/>
          </a:p>
        </p:txBody>
      </p:sp>
      <p:sp>
        <p:nvSpPr>
          <p:cNvPr id="7" name="Text 5"/>
          <p:cNvSpPr txBox="1"/>
          <p:nvPr/>
        </p:nvSpPr>
        <p:spPr>
          <a:xfrm>
            <a:off x="4663440" y="1188720"/>
            <a:ext cx="1828800" cy="685800"/>
          </a:xfrm>
          <a:prstGeom prst="rect">
            <a:avLst/>
          </a:prstGeom>
          <a:noFill/>
          <a:ln/>
        </p:spPr>
        <p:txBody>
          <a:bodyPr wrap="square" lIns="0" tIns="0" rIns="0" bIns="0" rtlCol="0" anchor="ctr"/>
          <a:lstStyle/>
          <a:p>
            <a:pPr marL="0" indent="0" algn="ctr" rtl="1">
              <a:buNone/>
            </a:pPr>
            <a:r>
              <a:rPr lang="ar-JO" altLang="en-US" sz="1600" b="1" dirty="0">
                <a:solidFill>
                  <a:srgbClr val="0B6B6B"/>
                </a:solidFill>
                <a:latin typeface="Dubai" pitchFamily="34" charset="0"/>
                <a:ea typeface="Dubai" pitchFamily="34" charset="-122"/>
                <a:cs typeface="Dubai" pitchFamily="34" charset="-120"/>
              </a:rPr>
              <a:t>التنبؤ</a:t>
            </a:r>
            <a:endParaRPr lang="ar-JO" sz="1600" dirty="0"/>
          </a:p>
        </p:txBody>
      </p:sp>
      <p:sp>
        <p:nvSpPr>
          <p:cNvPr id="8" name="Shape 6"/>
          <p:cNvSpPr/>
          <p:nvPr/>
        </p:nvSpPr>
        <p:spPr>
          <a:xfrm>
            <a:off x="4416552" y="1417320"/>
            <a:ext cx="228600" cy="228600"/>
          </a:xfrm>
          <a:prstGeom prst="leftArrow">
            <a:avLst/>
          </a:prstGeom>
          <a:solidFill>
            <a:srgbClr val="0B6B6B"/>
          </a:solidFill>
          <a:ln w="12700">
            <a:solidFill>
              <a:srgbClr val="0B6B6B"/>
            </a:solidFill>
            <a:prstDash val="solid"/>
          </a:ln>
        </p:spPr>
        <p:txBody>
          <a:bodyPr/>
          <a:lstStyle/>
          <a:p>
            <a:endParaRPr lang="en-US"/>
          </a:p>
        </p:txBody>
      </p:sp>
      <p:sp>
        <p:nvSpPr>
          <p:cNvPr id="9" name="Shape 7"/>
          <p:cNvSpPr/>
          <p:nvPr/>
        </p:nvSpPr>
        <p:spPr>
          <a:xfrm>
            <a:off x="2560320" y="1188720"/>
            <a:ext cx="1828800" cy="685800"/>
          </a:xfrm>
          <a:prstGeom prst="roundRect">
            <a:avLst>
              <a:gd name="adj" fmla="val 49333"/>
            </a:avLst>
          </a:prstGeom>
          <a:solidFill>
            <a:srgbClr val="DCEEED"/>
          </a:solidFill>
          <a:ln w="9525">
            <a:solidFill>
              <a:srgbClr val="0B6B6B"/>
            </a:solidFill>
            <a:prstDash val="solid"/>
          </a:ln>
          <a:effectLst>
            <a:outerShdw blurRad="101600" dist="25400" dir="5400000" algn="bl" rotWithShape="0">
              <a:srgbClr val="0B3B3B">
                <a:alpha val="10000"/>
              </a:srgbClr>
            </a:outerShdw>
          </a:effectLst>
        </p:spPr>
        <p:txBody>
          <a:bodyPr/>
          <a:lstStyle/>
          <a:p>
            <a:endParaRPr lang="en-US"/>
          </a:p>
        </p:txBody>
      </p:sp>
      <p:sp>
        <p:nvSpPr>
          <p:cNvPr id="10" name="Text 8"/>
          <p:cNvSpPr txBox="1"/>
          <p:nvPr/>
        </p:nvSpPr>
        <p:spPr>
          <a:xfrm>
            <a:off x="2560320" y="1188720"/>
            <a:ext cx="1828800" cy="685800"/>
          </a:xfrm>
          <a:prstGeom prst="rect">
            <a:avLst/>
          </a:prstGeom>
          <a:noFill/>
          <a:ln/>
        </p:spPr>
        <p:txBody>
          <a:bodyPr wrap="square" lIns="0" tIns="0" rIns="0" bIns="0" rtlCol="0" anchor="ctr"/>
          <a:lstStyle/>
          <a:p>
            <a:pPr marL="0" indent="0" algn="ctr" rtl="1">
              <a:buNone/>
            </a:pPr>
            <a:r>
              <a:rPr lang="ar-JO" altLang="en-US" sz="1600" b="1" dirty="0">
                <a:solidFill>
                  <a:srgbClr val="0B6B6B"/>
                </a:solidFill>
                <a:latin typeface="Dubai" pitchFamily="34" charset="0"/>
                <a:ea typeface="Dubai" pitchFamily="34" charset="-122"/>
                <a:cs typeface="Dubai" pitchFamily="34" charset="-120"/>
              </a:rPr>
              <a:t>تنبيه وتوصية</a:t>
            </a:r>
            <a:endParaRPr lang="ar-JO" sz="1600" dirty="0"/>
          </a:p>
        </p:txBody>
      </p:sp>
      <p:sp>
        <p:nvSpPr>
          <p:cNvPr id="11" name="Shape 9"/>
          <p:cNvSpPr/>
          <p:nvPr/>
        </p:nvSpPr>
        <p:spPr>
          <a:xfrm>
            <a:off x="2313432" y="1417320"/>
            <a:ext cx="228600" cy="228600"/>
          </a:xfrm>
          <a:prstGeom prst="leftArrow">
            <a:avLst/>
          </a:prstGeom>
          <a:solidFill>
            <a:srgbClr val="0B6B6B"/>
          </a:solidFill>
          <a:ln w="12700">
            <a:solidFill>
              <a:srgbClr val="0B6B6B"/>
            </a:solidFill>
            <a:prstDash val="solid"/>
          </a:ln>
        </p:spPr>
        <p:txBody>
          <a:bodyPr/>
          <a:lstStyle/>
          <a:p>
            <a:endParaRPr lang="en-US"/>
          </a:p>
        </p:txBody>
      </p:sp>
      <p:sp>
        <p:nvSpPr>
          <p:cNvPr id="12" name="Shape 10"/>
          <p:cNvSpPr/>
          <p:nvPr/>
        </p:nvSpPr>
        <p:spPr>
          <a:xfrm>
            <a:off x="457200" y="1188720"/>
            <a:ext cx="1828800" cy="685800"/>
          </a:xfrm>
          <a:prstGeom prst="roundRect">
            <a:avLst>
              <a:gd name="adj" fmla="val 49333"/>
            </a:avLst>
          </a:prstGeom>
          <a:solidFill>
            <a:srgbClr val="0B6B6B"/>
          </a:solidFill>
          <a:ln w="9525">
            <a:solidFill>
              <a:srgbClr val="0B6B6B"/>
            </a:solidFill>
            <a:prstDash val="solid"/>
          </a:ln>
          <a:effectLst>
            <a:outerShdw blurRad="101600" dist="25400" dir="5400000" algn="bl" rotWithShape="0">
              <a:srgbClr val="0B3B3B">
                <a:alpha val="10000"/>
              </a:srgbClr>
            </a:outerShdw>
          </a:effectLst>
        </p:spPr>
        <p:txBody>
          <a:bodyPr/>
          <a:lstStyle/>
          <a:p>
            <a:endParaRPr lang="en-US"/>
          </a:p>
        </p:txBody>
      </p:sp>
      <p:sp>
        <p:nvSpPr>
          <p:cNvPr id="13" name="Text 11"/>
          <p:cNvSpPr txBox="1"/>
          <p:nvPr/>
        </p:nvSpPr>
        <p:spPr>
          <a:xfrm>
            <a:off x="457200" y="1188720"/>
            <a:ext cx="1828800" cy="685800"/>
          </a:xfrm>
          <a:prstGeom prst="rect">
            <a:avLst/>
          </a:prstGeom>
          <a:noFill/>
          <a:ln/>
        </p:spPr>
        <p:txBody>
          <a:bodyPr wrap="square" lIns="0" tIns="0" rIns="0" bIns="0" rtlCol="0" anchor="ctr"/>
          <a:lstStyle/>
          <a:p>
            <a:pPr marL="0" indent="0" algn="ctr" rtl="1">
              <a:buNone/>
            </a:pPr>
            <a:r>
              <a:rPr lang="ar-JO" altLang="en-US" sz="1600" b="1" dirty="0">
                <a:solidFill>
                  <a:srgbClr val="FFFFFF"/>
                </a:solidFill>
                <a:latin typeface="Dubai" pitchFamily="34" charset="0"/>
                <a:ea typeface="Dubai" pitchFamily="34" charset="-122"/>
                <a:cs typeface="Dubai" pitchFamily="34" charset="-120"/>
              </a:rPr>
              <a:t>قرار بشري</a:t>
            </a:r>
            <a:endParaRPr lang="ar-JO" sz="1600" dirty="0"/>
          </a:p>
        </p:txBody>
      </p:sp>
      <p:sp>
        <p:nvSpPr>
          <p:cNvPr id="14" name="Shape 12"/>
          <p:cNvSpPr/>
          <p:nvPr/>
        </p:nvSpPr>
        <p:spPr>
          <a:xfrm>
            <a:off x="6071616" y="2194560"/>
            <a:ext cx="2615184" cy="2286000"/>
          </a:xfrm>
          <a:prstGeom prst="roundRect">
            <a:avLst>
              <a:gd name="adj" fmla="val 4000"/>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5" name="Shape 13"/>
          <p:cNvSpPr/>
          <p:nvPr/>
        </p:nvSpPr>
        <p:spPr>
          <a:xfrm>
            <a:off x="8174736" y="2286000"/>
            <a:ext cx="411480" cy="411480"/>
          </a:xfrm>
          <a:prstGeom prst="ellipse">
            <a:avLst/>
          </a:prstGeom>
          <a:solidFill>
            <a:srgbClr val="0B6B6B"/>
          </a:solidFill>
          <a:ln w="12700">
            <a:solidFill>
              <a:srgbClr val="0B6B6B"/>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8275320" y="2386584"/>
            <a:ext cx="210312" cy="210312"/>
          </a:xfrm>
          <a:prstGeom prst="rect">
            <a:avLst/>
          </a:prstGeom>
        </p:spPr>
      </p:pic>
      <p:sp>
        <p:nvSpPr>
          <p:cNvPr id="17" name="Text 14"/>
          <p:cNvSpPr txBox="1"/>
          <p:nvPr/>
        </p:nvSpPr>
        <p:spPr>
          <a:xfrm>
            <a:off x="6208776" y="2286000"/>
            <a:ext cx="1920240" cy="411480"/>
          </a:xfrm>
          <a:prstGeom prst="rect">
            <a:avLst/>
          </a:prstGeom>
          <a:noFill/>
          <a:ln/>
        </p:spPr>
        <p:txBody>
          <a:bodyPr wrap="square" lIns="0" tIns="0" rIns="0" bIns="0" rtlCol="0" anchor="ctr"/>
          <a:lstStyle/>
          <a:p>
            <a:pPr marL="0" indent="0" algn="r" rtl="1">
              <a:buNone/>
            </a:pPr>
            <a:r>
              <a:rPr lang="ar-JO" altLang="en-US" sz="2000" b="1" dirty="0">
                <a:solidFill>
                  <a:srgbClr val="0B6B6B"/>
                </a:solidFill>
                <a:latin typeface="Dubai" pitchFamily="34" charset="0"/>
                <a:ea typeface="Dubai" pitchFamily="34" charset="-122"/>
                <a:cs typeface="Dubai" pitchFamily="34" charset="-120"/>
              </a:rPr>
              <a:t>الأدوية</a:t>
            </a:r>
            <a:endParaRPr lang="ar-JO" sz="2000" dirty="0"/>
          </a:p>
        </p:txBody>
      </p:sp>
      <p:sp>
        <p:nvSpPr>
          <p:cNvPr id="18" name="Text 15"/>
          <p:cNvSpPr txBox="1"/>
          <p:nvPr/>
        </p:nvSpPr>
        <p:spPr>
          <a:xfrm>
            <a:off x="6208776" y="2743200"/>
            <a:ext cx="2340864" cy="45720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تنبؤ الطلب وحد إعادة الطلب</a:t>
            </a:r>
            <a:endParaRPr lang="ar-JO" sz="1400" dirty="0"/>
          </a:p>
        </p:txBody>
      </p:sp>
      <p:sp>
        <p:nvSpPr>
          <p:cNvPr id="19" name="Text 16"/>
          <p:cNvSpPr txBox="1"/>
          <p:nvPr/>
        </p:nvSpPr>
        <p:spPr>
          <a:xfrm>
            <a:off x="6208776" y="3200400"/>
            <a:ext cx="2340864" cy="73152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تنبيه النفاد والانتهاء (FEFO) واقتراح نقل الفائض</a:t>
            </a:r>
            <a:endParaRPr lang="ar-JO" sz="1400" dirty="0"/>
          </a:p>
        </p:txBody>
      </p:sp>
      <p:sp>
        <p:nvSpPr>
          <p:cNvPr id="20" name="Shape 17"/>
          <p:cNvSpPr/>
          <p:nvPr/>
        </p:nvSpPr>
        <p:spPr>
          <a:xfrm>
            <a:off x="6208776" y="4023360"/>
            <a:ext cx="2340864" cy="347472"/>
          </a:xfrm>
          <a:prstGeom prst="roundRect">
            <a:avLst>
              <a:gd name="adj" fmla="val 50000"/>
            </a:avLst>
          </a:prstGeom>
          <a:solidFill>
            <a:srgbClr val="E4ECF8"/>
          </a:solidFill>
          <a:ln w="9525">
            <a:solidFill>
              <a:srgbClr val="E4ECF8"/>
            </a:solidFill>
            <a:prstDash val="solid"/>
          </a:ln>
          <a:effectLst>
            <a:outerShdw blurRad="101600" dist="25400" dir="5400000" algn="bl" rotWithShape="0">
              <a:srgbClr val="0B3B3B">
                <a:alpha val="10000"/>
              </a:srgbClr>
            </a:outerShdw>
          </a:effectLst>
        </p:spPr>
        <p:txBody>
          <a:bodyPr/>
          <a:lstStyle/>
          <a:p>
            <a:endParaRPr lang="en-US"/>
          </a:p>
        </p:txBody>
      </p:sp>
      <p:sp>
        <p:nvSpPr>
          <p:cNvPr id="21" name="Text 18"/>
          <p:cNvSpPr txBox="1"/>
          <p:nvPr/>
        </p:nvSpPr>
        <p:spPr>
          <a:xfrm>
            <a:off x="6208776" y="4023360"/>
            <a:ext cx="2340864" cy="347472"/>
          </a:xfrm>
          <a:prstGeom prst="rect">
            <a:avLst/>
          </a:prstGeom>
          <a:noFill/>
          <a:ln/>
        </p:spPr>
        <p:txBody>
          <a:bodyPr wrap="square" lIns="0" tIns="0" rIns="0" bIns="0" rtlCol="0" anchor="ctr"/>
          <a:lstStyle/>
          <a:p>
            <a:pPr marL="0" indent="0" algn="ctr" rtl="1">
              <a:buNone/>
            </a:pPr>
            <a:r>
              <a:rPr lang="ar-JO" altLang="en-US" sz="1100" b="1" dirty="0">
                <a:solidFill>
                  <a:srgbClr val="2A5B99"/>
                </a:solidFill>
                <a:latin typeface="Dubai" pitchFamily="34" charset="0"/>
                <a:ea typeface="Dubai" pitchFamily="34" charset="-122"/>
                <a:cs typeface="Dubai" pitchFamily="34" charset="-120"/>
              </a:rPr>
              <a:t>تنبؤ إحصائي + قاعدة حسابية</a:t>
            </a:r>
            <a:endParaRPr lang="ar-JO" sz="1100" dirty="0"/>
          </a:p>
        </p:txBody>
      </p:sp>
      <p:sp>
        <p:nvSpPr>
          <p:cNvPr id="22" name="Shape 19"/>
          <p:cNvSpPr/>
          <p:nvPr/>
        </p:nvSpPr>
        <p:spPr>
          <a:xfrm>
            <a:off x="3264408" y="2194560"/>
            <a:ext cx="2615184" cy="2286000"/>
          </a:xfrm>
          <a:prstGeom prst="roundRect">
            <a:avLst>
              <a:gd name="adj" fmla="val 4000"/>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23" name="Shape 20"/>
          <p:cNvSpPr/>
          <p:nvPr/>
        </p:nvSpPr>
        <p:spPr>
          <a:xfrm>
            <a:off x="5367528" y="2286000"/>
            <a:ext cx="411480" cy="411480"/>
          </a:xfrm>
          <a:prstGeom prst="ellipse">
            <a:avLst/>
          </a:prstGeom>
          <a:solidFill>
            <a:srgbClr val="0B6B6B"/>
          </a:solidFill>
          <a:ln w="12700">
            <a:solidFill>
              <a:srgbClr val="0B6B6B"/>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468112" y="2386584"/>
            <a:ext cx="210312" cy="210312"/>
          </a:xfrm>
          <a:prstGeom prst="rect">
            <a:avLst/>
          </a:prstGeom>
        </p:spPr>
      </p:pic>
      <p:sp>
        <p:nvSpPr>
          <p:cNvPr id="25" name="Text 21"/>
          <p:cNvSpPr txBox="1"/>
          <p:nvPr/>
        </p:nvSpPr>
        <p:spPr>
          <a:xfrm>
            <a:off x="3401568" y="2286000"/>
            <a:ext cx="1920240" cy="411480"/>
          </a:xfrm>
          <a:prstGeom prst="rect">
            <a:avLst/>
          </a:prstGeom>
          <a:noFill/>
          <a:ln/>
        </p:spPr>
        <p:txBody>
          <a:bodyPr wrap="square" lIns="0" tIns="0" rIns="0" bIns="0" rtlCol="0" anchor="ctr"/>
          <a:lstStyle/>
          <a:p>
            <a:pPr marL="0" indent="0" algn="r" rtl="1">
              <a:buNone/>
            </a:pPr>
            <a:r>
              <a:rPr lang="ar-JO" altLang="en-US" sz="2000" b="1" dirty="0">
                <a:solidFill>
                  <a:srgbClr val="0B6B6B"/>
                </a:solidFill>
                <a:latin typeface="Dubai" pitchFamily="34" charset="0"/>
                <a:ea typeface="Dubai" pitchFamily="34" charset="-122"/>
                <a:cs typeface="Dubai" pitchFamily="34" charset="-120"/>
              </a:rPr>
              <a:t>المواعيد</a:t>
            </a:r>
            <a:endParaRPr lang="ar-JO" sz="2000" dirty="0"/>
          </a:p>
        </p:txBody>
      </p:sp>
      <p:sp>
        <p:nvSpPr>
          <p:cNvPr id="26" name="Text 22"/>
          <p:cNvSpPr txBox="1"/>
          <p:nvPr/>
        </p:nvSpPr>
        <p:spPr>
          <a:xfrm>
            <a:off x="3401568" y="2743200"/>
            <a:ext cx="2340864" cy="45720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تنبؤ احتمال الغياب</a:t>
            </a:r>
            <a:endParaRPr lang="ar-JO" sz="1400" dirty="0"/>
          </a:p>
        </p:txBody>
      </p:sp>
      <p:sp>
        <p:nvSpPr>
          <p:cNvPr id="27" name="Text 23"/>
          <p:cNvSpPr txBox="1"/>
          <p:nvPr/>
        </p:nvSpPr>
        <p:spPr>
          <a:xfrm>
            <a:off x="3401568" y="3200400"/>
            <a:ext cx="2340864" cy="73152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كشف تجاوز السعة واقتراح مواعيد بديلة</a:t>
            </a:r>
            <a:endParaRPr lang="ar-JO" sz="1400" dirty="0"/>
          </a:p>
        </p:txBody>
      </p:sp>
      <p:sp>
        <p:nvSpPr>
          <p:cNvPr id="28" name="Shape 24"/>
          <p:cNvSpPr/>
          <p:nvPr/>
        </p:nvSpPr>
        <p:spPr>
          <a:xfrm>
            <a:off x="3401568" y="4023360"/>
            <a:ext cx="2340864" cy="347472"/>
          </a:xfrm>
          <a:prstGeom prst="roundRect">
            <a:avLst>
              <a:gd name="adj" fmla="val 50000"/>
            </a:avLst>
          </a:prstGeom>
          <a:solidFill>
            <a:srgbClr val="E4ECF8"/>
          </a:solidFill>
          <a:ln w="9525">
            <a:solidFill>
              <a:srgbClr val="E4ECF8"/>
            </a:solidFill>
            <a:prstDash val="solid"/>
          </a:ln>
          <a:effectLst>
            <a:outerShdw blurRad="101600" dist="25400" dir="5400000" algn="bl" rotWithShape="0">
              <a:srgbClr val="0B3B3B">
                <a:alpha val="10000"/>
              </a:srgbClr>
            </a:outerShdw>
          </a:effectLst>
        </p:spPr>
        <p:txBody>
          <a:bodyPr/>
          <a:lstStyle/>
          <a:p>
            <a:endParaRPr lang="en-US"/>
          </a:p>
        </p:txBody>
      </p:sp>
      <p:sp>
        <p:nvSpPr>
          <p:cNvPr id="29" name="Text 25"/>
          <p:cNvSpPr txBox="1"/>
          <p:nvPr/>
        </p:nvSpPr>
        <p:spPr>
          <a:xfrm>
            <a:off x="3401568" y="4023360"/>
            <a:ext cx="2340864" cy="347472"/>
          </a:xfrm>
          <a:prstGeom prst="rect">
            <a:avLst/>
          </a:prstGeom>
          <a:noFill/>
          <a:ln/>
        </p:spPr>
        <p:txBody>
          <a:bodyPr wrap="square" lIns="0" tIns="0" rIns="0" bIns="0" rtlCol="0" anchor="ctr"/>
          <a:lstStyle/>
          <a:p>
            <a:pPr marL="0" indent="0" algn="ctr" rtl="1">
              <a:buNone/>
            </a:pPr>
            <a:r>
              <a:rPr lang="ar-JO" altLang="en-US" sz="1100" b="1" dirty="0">
                <a:solidFill>
                  <a:srgbClr val="2A5B99"/>
                </a:solidFill>
                <a:latin typeface="Dubai" pitchFamily="34" charset="0"/>
                <a:ea typeface="Dubai" pitchFamily="34" charset="-122"/>
                <a:cs typeface="Dubai" pitchFamily="34" charset="-120"/>
              </a:rPr>
              <a:t>تعلّم آلي + قاعدة حسابية</a:t>
            </a:r>
            <a:endParaRPr lang="ar-JO" sz="1100" dirty="0"/>
          </a:p>
        </p:txBody>
      </p:sp>
      <p:sp>
        <p:nvSpPr>
          <p:cNvPr id="30" name="Shape 26"/>
          <p:cNvSpPr/>
          <p:nvPr/>
        </p:nvSpPr>
        <p:spPr>
          <a:xfrm>
            <a:off x="457200" y="2194560"/>
            <a:ext cx="2615184" cy="2286000"/>
          </a:xfrm>
          <a:prstGeom prst="roundRect">
            <a:avLst>
              <a:gd name="adj" fmla="val 4000"/>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31" name="Shape 27"/>
          <p:cNvSpPr/>
          <p:nvPr/>
        </p:nvSpPr>
        <p:spPr>
          <a:xfrm>
            <a:off x="2560320" y="2286000"/>
            <a:ext cx="411480" cy="411480"/>
          </a:xfrm>
          <a:prstGeom prst="ellipse">
            <a:avLst/>
          </a:prstGeom>
          <a:solidFill>
            <a:srgbClr val="0B6B6B"/>
          </a:solidFill>
          <a:ln w="12700">
            <a:solidFill>
              <a:srgbClr val="0B6B6B"/>
            </a:solidFill>
            <a:prstDash val="solid"/>
          </a:ln>
        </p:spPr>
        <p:txBody>
          <a:bodyPr/>
          <a:lstStyle/>
          <a:p>
            <a:endParaRPr lang="en-US"/>
          </a:p>
        </p:txBody>
      </p:sp>
      <p:pic>
        <p:nvPicPr>
          <p:cNvPr id="32" name="Image 2" descr="preencoded.png"/>
          <p:cNvPicPr>
            <a:picLocks noChangeAspect="1"/>
          </p:cNvPicPr>
          <p:nvPr/>
        </p:nvPicPr>
        <p:blipFill>
          <a:blip r:embed="rId5"/>
          <a:stretch>
            <a:fillRect/>
          </a:stretch>
        </p:blipFill>
        <p:spPr>
          <a:xfrm>
            <a:off x="2660904" y="2386584"/>
            <a:ext cx="210312" cy="210312"/>
          </a:xfrm>
          <a:prstGeom prst="rect">
            <a:avLst/>
          </a:prstGeom>
        </p:spPr>
      </p:pic>
      <p:sp>
        <p:nvSpPr>
          <p:cNvPr id="33" name="Text 28"/>
          <p:cNvSpPr txBox="1"/>
          <p:nvPr/>
        </p:nvSpPr>
        <p:spPr>
          <a:xfrm>
            <a:off x="594360" y="2286000"/>
            <a:ext cx="1920240" cy="411480"/>
          </a:xfrm>
          <a:prstGeom prst="rect">
            <a:avLst/>
          </a:prstGeom>
          <a:noFill/>
          <a:ln/>
        </p:spPr>
        <p:txBody>
          <a:bodyPr wrap="square" lIns="0" tIns="0" rIns="0" bIns="0" rtlCol="0" anchor="ctr"/>
          <a:lstStyle/>
          <a:p>
            <a:pPr marL="0" indent="0" algn="r" rtl="1">
              <a:buNone/>
            </a:pPr>
            <a:r>
              <a:rPr lang="ar-JO" altLang="en-US" sz="2000" b="1" dirty="0">
                <a:solidFill>
                  <a:srgbClr val="0B6B6B"/>
                </a:solidFill>
                <a:latin typeface="Dubai" pitchFamily="34" charset="0"/>
                <a:ea typeface="Dubai" pitchFamily="34" charset="-122"/>
                <a:cs typeface="Dubai" pitchFamily="34" charset="-120"/>
              </a:rPr>
              <a:t>الأسرّة</a:t>
            </a:r>
            <a:endParaRPr lang="ar-JO" sz="2000" dirty="0"/>
          </a:p>
        </p:txBody>
      </p:sp>
      <p:sp>
        <p:nvSpPr>
          <p:cNvPr id="34" name="Text 29"/>
          <p:cNvSpPr txBox="1"/>
          <p:nvPr/>
        </p:nvSpPr>
        <p:spPr>
          <a:xfrm>
            <a:off x="594360" y="2743200"/>
            <a:ext cx="2340864" cy="45720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توقع الإشغال حتى 7 أيام</a:t>
            </a:r>
            <a:endParaRPr lang="ar-JO" sz="1400" dirty="0"/>
          </a:p>
        </p:txBody>
      </p:sp>
      <p:sp>
        <p:nvSpPr>
          <p:cNvPr id="35" name="Text 30"/>
          <p:cNvSpPr txBox="1"/>
          <p:nvPr/>
        </p:nvSpPr>
        <p:spPr>
          <a:xfrm>
            <a:off x="594360" y="3200400"/>
            <a:ext cx="2340864" cy="731520"/>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تنبيه الازدحام وسيناريو توقيت الخروج</a:t>
            </a:r>
            <a:endParaRPr lang="ar-JO" sz="1400" dirty="0"/>
          </a:p>
        </p:txBody>
      </p:sp>
      <p:sp>
        <p:nvSpPr>
          <p:cNvPr id="36" name="Shape 31"/>
          <p:cNvSpPr/>
          <p:nvPr/>
        </p:nvSpPr>
        <p:spPr>
          <a:xfrm>
            <a:off x="594360" y="4023360"/>
            <a:ext cx="2340864" cy="347472"/>
          </a:xfrm>
          <a:prstGeom prst="roundRect">
            <a:avLst>
              <a:gd name="adj" fmla="val 50000"/>
            </a:avLst>
          </a:prstGeom>
          <a:solidFill>
            <a:srgbClr val="E4ECF8"/>
          </a:solidFill>
          <a:ln w="9525">
            <a:solidFill>
              <a:srgbClr val="E4ECF8"/>
            </a:solidFill>
            <a:prstDash val="solid"/>
          </a:ln>
          <a:effectLst>
            <a:outerShdw blurRad="101600" dist="25400" dir="5400000" algn="bl" rotWithShape="0">
              <a:srgbClr val="0B3B3B">
                <a:alpha val="10000"/>
              </a:srgbClr>
            </a:outerShdw>
          </a:effectLst>
        </p:spPr>
        <p:txBody>
          <a:bodyPr/>
          <a:lstStyle/>
          <a:p>
            <a:endParaRPr lang="en-US"/>
          </a:p>
        </p:txBody>
      </p:sp>
      <p:sp>
        <p:nvSpPr>
          <p:cNvPr id="37" name="Text 32"/>
          <p:cNvSpPr txBox="1"/>
          <p:nvPr/>
        </p:nvSpPr>
        <p:spPr>
          <a:xfrm>
            <a:off x="594360" y="4023360"/>
            <a:ext cx="2340864" cy="347472"/>
          </a:xfrm>
          <a:prstGeom prst="rect">
            <a:avLst/>
          </a:prstGeom>
          <a:noFill/>
          <a:ln/>
        </p:spPr>
        <p:txBody>
          <a:bodyPr wrap="square" lIns="0" tIns="0" rIns="0" bIns="0" rtlCol="0" anchor="ctr"/>
          <a:lstStyle/>
          <a:p>
            <a:pPr marL="0" indent="0" algn="ctr" rtl="1">
              <a:buNone/>
            </a:pPr>
            <a:r>
              <a:rPr lang="ar-JO" altLang="en-US" sz="1100" b="1" dirty="0">
                <a:solidFill>
                  <a:srgbClr val="2A5B99"/>
                </a:solidFill>
                <a:latin typeface="Dubai" pitchFamily="34" charset="0"/>
                <a:ea typeface="Dubai" pitchFamily="34" charset="-122"/>
                <a:cs typeface="Dubai" pitchFamily="34" charset="-120"/>
              </a:rPr>
              <a:t>تنبؤ إحصائي + محاكاة</a:t>
            </a:r>
            <a:endParaRPr lang="ar-JO" sz="1100" dirty="0"/>
          </a:p>
        </p:txBody>
      </p:sp>
      <p:sp>
        <p:nvSpPr>
          <p:cNvPr id="38" name="Text 33"/>
          <p:cNvSpPr txBox="1"/>
          <p:nvPr/>
        </p:nvSpPr>
        <p:spPr>
          <a:xfrm>
            <a:off x="457200" y="4663440"/>
            <a:ext cx="8229600" cy="32004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الواجهة تميّز دائماً بين: تنبؤ نموذج، قاعدة حسابية، ونتيجة محاكاة.</a:t>
            </a:r>
            <a:endParaRPr lang="ar-JO"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مثال: كيف تتحرك المنصة قبل حدوث النقص</a:t>
            </a:r>
            <a:endParaRPr lang="ar-JO" sz="3000" dirty="0"/>
          </a:p>
        </p:txBody>
      </p:sp>
      <p:sp>
        <p:nvSpPr>
          <p:cNvPr id="3" name="Shape 1"/>
          <p:cNvSpPr/>
          <p:nvPr/>
        </p:nvSpPr>
        <p:spPr>
          <a:xfrm>
            <a:off x="457200" y="1188720"/>
            <a:ext cx="3749040" cy="3200400"/>
          </a:xfrm>
          <a:prstGeom prst="roundRect">
            <a:avLst>
              <a:gd name="adj" fmla="val 2857"/>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4" name="Shape 2"/>
          <p:cNvSpPr/>
          <p:nvPr/>
        </p:nvSpPr>
        <p:spPr>
          <a:xfrm>
            <a:off x="3200400" y="1325880"/>
            <a:ext cx="868680" cy="329184"/>
          </a:xfrm>
          <a:prstGeom prst="roundRect">
            <a:avLst>
              <a:gd name="adj" fmla="val 50000"/>
            </a:avLst>
          </a:prstGeom>
          <a:solidFill>
            <a:srgbClr val="FCE9E7"/>
          </a:solidFill>
          <a:ln w="9525">
            <a:solidFill>
              <a:srgbClr val="FCE9E7"/>
            </a:solidFill>
            <a:prstDash val="solid"/>
          </a:ln>
          <a:effectLst>
            <a:outerShdw blurRad="101600" dist="25400" dir="5400000" algn="bl" rotWithShape="0">
              <a:srgbClr val="0B3B3B">
                <a:alpha val="10000"/>
              </a:srgbClr>
            </a:outerShdw>
          </a:effectLst>
        </p:spPr>
        <p:txBody>
          <a:bodyPr/>
          <a:lstStyle/>
          <a:p>
            <a:endParaRPr lang="en-US"/>
          </a:p>
        </p:txBody>
      </p:sp>
      <p:sp>
        <p:nvSpPr>
          <p:cNvPr id="5" name="Text 3"/>
          <p:cNvSpPr txBox="1"/>
          <p:nvPr/>
        </p:nvSpPr>
        <p:spPr>
          <a:xfrm>
            <a:off x="3200400" y="1325880"/>
            <a:ext cx="868680" cy="329184"/>
          </a:xfrm>
          <a:prstGeom prst="rect">
            <a:avLst/>
          </a:prstGeom>
          <a:noFill/>
          <a:ln/>
        </p:spPr>
        <p:txBody>
          <a:bodyPr wrap="square" lIns="0" tIns="0" rIns="0" bIns="0" rtlCol="0" anchor="ctr"/>
          <a:lstStyle/>
          <a:p>
            <a:pPr marL="0" indent="0" algn="ctr" rtl="1">
              <a:buNone/>
            </a:pPr>
            <a:r>
              <a:rPr lang="ar-JO" altLang="en-US" sz="1300" b="1" dirty="0">
                <a:solidFill>
                  <a:srgbClr val="B42318"/>
                </a:solidFill>
                <a:latin typeface="Dubai" pitchFamily="34" charset="0"/>
                <a:ea typeface="Dubai" pitchFamily="34" charset="-122"/>
                <a:cs typeface="Dubai" pitchFamily="34" charset="-120"/>
              </a:rPr>
              <a:t>حرج</a:t>
            </a:r>
            <a:endParaRPr lang="ar-JO" sz="1300" dirty="0"/>
          </a:p>
        </p:txBody>
      </p:sp>
      <p:sp>
        <p:nvSpPr>
          <p:cNvPr id="6" name="Text 4"/>
          <p:cNvSpPr txBox="1"/>
          <p:nvPr/>
        </p:nvSpPr>
        <p:spPr>
          <a:xfrm>
            <a:off x="594360" y="1783080"/>
            <a:ext cx="3474720" cy="640080"/>
          </a:xfrm>
          <a:prstGeom prst="rect">
            <a:avLst/>
          </a:prstGeom>
          <a:noFill/>
          <a:ln/>
        </p:spPr>
        <p:txBody>
          <a:bodyPr wrap="square" lIns="0" tIns="0" rIns="0" bIns="0" rtlCol="0" anchor="ctr"/>
          <a:lstStyle/>
          <a:p>
            <a:pPr marL="0" indent="0" algn="r" rtl="1">
              <a:buNone/>
            </a:pPr>
            <a:r>
              <a:rPr lang="ar-JO" altLang="en-US" sz="1600" b="1" dirty="0">
                <a:solidFill>
                  <a:srgbClr val="13272B"/>
                </a:solidFill>
                <a:latin typeface="Dubai" pitchFamily="34" charset="0"/>
                <a:ea typeface="Dubai" pitchFamily="34" charset="-122"/>
                <a:cs typeface="Dubai" pitchFamily="34" charset="-120"/>
              </a:rPr>
              <a:t>نفاد متوقع قبل وصول أي طلب جديد</a:t>
            </a:r>
            <a:endParaRPr lang="ar-JO" sz="1600" dirty="0"/>
          </a:p>
        </p:txBody>
      </p:sp>
      <p:sp>
        <p:nvSpPr>
          <p:cNvPr id="7" name="Text 5"/>
          <p:cNvSpPr txBox="1"/>
          <p:nvPr/>
        </p:nvSpPr>
        <p:spPr>
          <a:xfrm>
            <a:off x="594360" y="2468880"/>
            <a:ext cx="3474720" cy="594360"/>
          </a:xfrm>
          <a:prstGeom prst="rect">
            <a:avLst/>
          </a:prstGeom>
          <a:noFill/>
          <a:ln/>
        </p:spPr>
        <p:txBody>
          <a:bodyPr wrap="square" lIns="0" tIns="0" rIns="0" bIns="0" rtlCol="0" anchor="ctr"/>
          <a:lstStyle/>
          <a:p>
            <a:pPr marL="0" indent="0" algn="r" rtl="1">
              <a:buNone/>
            </a:pPr>
            <a:r>
              <a:rPr lang="ar-JO" altLang="en-US" sz="1400" dirty="0">
                <a:solidFill>
                  <a:srgbClr val="53676B"/>
                </a:solidFill>
                <a:latin typeface="Dubai" pitchFamily="34" charset="0"/>
                <a:ea typeface="Dubai" pitchFamily="34" charset="-122"/>
                <a:cs typeface="Dubai" pitchFamily="34" charset="-120"/>
              </a:rPr>
              <a:t>توصية: إعادة طلب أو نقل فائض من منشأة مؤهلة</a:t>
            </a:r>
            <a:endParaRPr lang="ar-JO" sz="1400" dirty="0"/>
          </a:p>
        </p:txBody>
      </p:sp>
      <p:sp>
        <p:nvSpPr>
          <p:cNvPr id="8" name="Text 6"/>
          <p:cNvSpPr txBox="1"/>
          <p:nvPr/>
        </p:nvSpPr>
        <p:spPr>
          <a:xfrm>
            <a:off x="594360" y="3108960"/>
            <a:ext cx="3474720" cy="365760"/>
          </a:xfrm>
          <a:prstGeom prst="rect">
            <a:avLst/>
          </a:prstGeom>
          <a:noFill/>
          <a:ln/>
        </p:spPr>
        <p:txBody>
          <a:bodyPr wrap="square" lIns="0" tIns="0" rIns="0" bIns="0" rtlCol="0" anchor="ctr"/>
          <a:lstStyle/>
          <a:p>
            <a:pPr marL="0" indent="0" algn="r" rtl="1">
              <a:buNone/>
            </a:pPr>
            <a:r>
              <a:rPr lang="ar-JO" altLang="en-US" sz="1300" dirty="0">
                <a:solidFill>
                  <a:srgbClr val="53676B"/>
                </a:solidFill>
                <a:latin typeface="Dubai" pitchFamily="34" charset="0"/>
                <a:ea typeface="Dubai" pitchFamily="34" charset="-122"/>
                <a:cs typeface="Dubai" pitchFamily="34" charset="-120"/>
              </a:rPr>
              <a:t>يتطلب موافقة صيدلي مخوّل</a:t>
            </a:r>
            <a:endParaRPr lang="ar-JO" sz="1300" dirty="0"/>
          </a:p>
        </p:txBody>
      </p:sp>
      <p:sp>
        <p:nvSpPr>
          <p:cNvPr id="9" name="Shape 7"/>
          <p:cNvSpPr/>
          <p:nvPr/>
        </p:nvSpPr>
        <p:spPr>
          <a:xfrm>
            <a:off x="3017520" y="3657600"/>
            <a:ext cx="1005840" cy="457200"/>
          </a:xfrm>
          <a:prstGeom prst="roundRect">
            <a:avLst>
              <a:gd name="adj" fmla="val 20000"/>
            </a:avLst>
          </a:prstGeom>
          <a:solidFill>
            <a:srgbClr val="0B6B6B"/>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0" name="Text 8"/>
          <p:cNvSpPr txBox="1"/>
          <p:nvPr/>
        </p:nvSpPr>
        <p:spPr>
          <a:xfrm>
            <a:off x="3017520" y="3657600"/>
            <a:ext cx="1005840" cy="457200"/>
          </a:xfrm>
          <a:prstGeom prst="rect">
            <a:avLst/>
          </a:prstGeom>
          <a:noFill/>
          <a:ln/>
        </p:spPr>
        <p:txBody>
          <a:bodyPr wrap="square" lIns="0" tIns="0" rIns="0" bIns="0" rtlCol="0" anchor="ctr"/>
          <a:lstStyle/>
          <a:p>
            <a:pPr marL="0" indent="0" algn="ctr" rtl="1">
              <a:buNone/>
            </a:pPr>
            <a:r>
              <a:rPr lang="ar-JO" altLang="en-US" sz="1400" b="1" dirty="0">
                <a:solidFill>
                  <a:srgbClr val="FFFFFF"/>
                </a:solidFill>
                <a:latin typeface="Dubai" pitchFamily="34" charset="0"/>
                <a:ea typeface="Dubai" pitchFamily="34" charset="-122"/>
                <a:cs typeface="Dubai" pitchFamily="34" charset="-120"/>
              </a:rPr>
              <a:t>اعتماد</a:t>
            </a:r>
            <a:endParaRPr lang="ar-JO" sz="1400" dirty="0"/>
          </a:p>
        </p:txBody>
      </p:sp>
      <p:sp>
        <p:nvSpPr>
          <p:cNvPr id="11" name="Shape 9"/>
          <p:cNvSpPr/>
          <p:nvPr/>
        </p:nvSpPr>
        <p:spPr>
          <a:xfrm>
            <a:off x="1920240" y="3657600"/>
            <a:ext cx="1005840" cy="457200"/>
          </a:xfrm>
          <a:prstGeom prst="roundRect">
            <a:avLst>
              <a:gd name="adj" fmla="val 20000"/>
            </a:avLst>
          </a:prstGeom>
          <a:solidFill>
            <a:srgbClr val="FFFFFF"/>
          </a:solidFill>
          <a:ln w="9525">
            <a:solidFill>
              <a:srgbClr val="B42318"/>
            </a:solidFill>
            <a:prstDash val="solid"/>
          </a:ln>
          <a:effectLst>
            <a:outerShdw blurRad="101600" dist="25400" dir="5400000" algn="bl" rotWithShape="0">
              <a:srgbClr val="0B3B3B">
                <a:alpha val="10000"/>
              </a:srgbClr>
            </a:outerShdw>
          </a:effectLst>
        </p:spPr>
        <p:txBody>
          <a:bodyPr/>
          <a:lstStyle/>
          <a:p>
            <a:endParaRPr lang="en-US"/>
          </a:p>
        </p:txBody>
      </p:sp>
      <p:sp>
        <p:nvSpPr>
          <p:cNvPr id="12" name="Text 10"/>
          <p:cNvSpPr txBox="1"/>
          <p:nvPr/>
        </p:nvSpPr>
        <p:spPr>
          <a:xfrm>
            <a:off x="1920240" y="3657600"/>
            <a:ext cx="1005840" cy="457200"/>
          </a:xfrm>
          <a:prstGeom prst="rect">
            <a:avLst/>
          </a:prstGeom>
          <a:noFill/>
          <a:ln/>
        </p:spPr>
        <p:txBody>
          <a:bodyPr wrap="square" lIns="0" tIns="0" rIns="0" bIns="0" rtlCol="0" anchor="ctr"/>
          <a:lstStyle/>
          <a:p>
            <a:pPr marL="0" indent="0" algn="ctr" rtl="1">
              <a:buNone/>
            </a:pPr>
            <a:r>
              <a:rPr lang="ar-JO" altLang="en-US" sz="1400" b="1" dirty="0">
                <a:solidFill>
                  <a:srgbClr val="13272B"/>
                </a:solidFill>
                <a:latin typeface="Dubai" pitchFamily="34" charset="0"/>
                <a:ea typeface="Dubai" pitchFamily="34" charset="-122"/>
                <a:cs typeface="Dubai" pitchFamily="34" charset="-120"/>
              </a:rPr>
              <a:t>تأجيل</a:t>
            </a:r>
            <a:endParaRPr lang="ar-JO" sz="1400" dirty="0"/>
          </a:p>
        </p:txBody>
      </p:sp>
      <p:sp>
        <p:nvSpPr>
          <p:cNvPr id="13" name="Shape 11"/>
          <p:cNvSpPr/>
          <p:nvPr/>
        </p:nvSpPr>
        <p:spPr>
          <a:xfrm>
            <a:off x="822960" y="3657600"/>
            <a:ext cx="1005840" cy="457200"/>
          </a:xfrm>
          <a:prstGeom prst="roundRect">
            <a:avLst>
              <a:gd name="adj" fmla="val 20000"/>
            </a:avLst>
          </a:prstGeom>
          <a:solidFill>
            <a:srgbClr val="FFFFFF"/>
          </a:solidFill>
          <a:ln w="9525">
            <a:solidFill>
              <a:srgbClr val="B42318"/>
            </a:solidFill>
            <a:prstDash val="solid"/>
          </a:ln>
          <a:effectLst>
            <a:outerShdw blurRad="101600" dist="25400" dir="5400000" algn="bl" rotWithShape="0">
              <a:srgbClr val="0B3B3B">
                <a:alpha val="10000"/>
              </a:srgbClr>
            </a:outerShdw>
          </a:effectLst>
        </p:spPr>
        <p:txBody>
          <a:bodyPr/>
          <a:lstStyle/>
          <a:p>
            <a:endParaRPr lang="en-US"/>
          </a:p>
        </p:txBody>
      </p:sp>
      <p:sp>
        <p:nvSpPr>
          <p:cNvPr id="14" name="Text 12"/>
          <p:cNvSpPr txBox="1"/>
          <p:nvPr/>
        </p:nvSpPr>
        <p:spPr>
          <a:xfrm>
            <a:off x="822960" y="3657600"/>
            <a:ext cx="1005840" cy="457200"/>
          </a:xfrm>
          <a:prstGeom prst="rect">
            <a:avLst/>
          </a:prstGeom>
          <a:noFill/>
          <a:ln/>
        </p:spPr>
        <p:txBody>
          <a:bodyPr wrap="square" lIns="0" tIns="0" rIns="0" bIns="0" rtlCol="0" anchor="ctr"/>
          <a:lstStyle/>
          <a:p>
            <a:pPr marL="0" indent="0" algn="ctr" rtl="1">
              <a:buNone/>
            </a:pPr>
            <a:r>
              <a:rPr lang="ar-JO" altLang="en-US" sz="1400" b="1" dirty="0">
                <a:solidFill>
                  <a:srgbClr val="B42318"/>
                </a:solidFill>
                <a:latin typeface="Dubai" pitchFamily="34" charset="0"/>
                <a:ea typeface="Dubai" pitchFamily="34" charset="-122"/>
                <a:cs typeface="Dubai" pitchFamily="34" charset="-120"/>
              </a:rPr>
              <a:t>رفض</a:t>
            </a:r>
            <a:endParaRPr lang="ar-JO" sz="1400" dirty="0"/>
          </a:p>
        </p:txBody>
      </p:sp>
      <p:sp>
        <p:nvSpPr>
          <p:cNvPr id="15" name="Shape 13"/>
          <p:cNvSpPr/>
          <p:nvPr/>
        </p:nvSpPr>
        <p:spPr>
          <a:xfrm>
            <a:off x="8275320" y="1243584"/>
            <a:ext cx="411480" cy="411480"/>
          </a:xfrm>
          <a:prstGeom prst="ellipse">
            <a:avLst/>
          </a:prstGeom>
          <a:solidFill>
            <a:srgbClr val="DCEEED"/>
          </a:solidFill>
          <a:ln w="12700">
            <a:solidFill>
              <a:srgbClr val="0B6B6B"/>
            </a:solidFill>
            <a:prstDash val="solid"/>
          </a:ln>
        </p:spPr>
        <p:txBody>
          <a:bodyPr/>
          <a:lstStyle/>
          <a:p>
            <a:endParaRPr lang="en-US"/>
          </a:p>
        </p:txBody>
      </p:sp>
      <p:sp>
        <p:nvSpPr>
          <p:cNvPr id="16" name="Text 14"/>
          <p:cNvSpPr txBox="1"/>
          <p:nvPr/>
        </p:nvSpPr>
        <p:spPr>
          <a:xfrm>
            <a:off x="8275320" y="1243584"/>
            <a:ext cx="411480" cy="411480"/>
          </a:xfrm>
          <a:prstGeom prst="rect">
            <a:avLst/>
          </a:prstGeom>
          <a:noFill/>
          <a:ln/>
        </p:spPr>
        <p:txBody>
          <a:bodyPr wrap="square" lIns="0" tIns="0" rIns="0" bIns="0" rtlCol="0" anchor="ctr"/>
          <a:lstStyle/>
          <a:p>
            <a:pPr marL="0" indent="0" algn="ctr" rtl="1">
              <a:buNone/>
            </a:pPr>
            <a:r>
              <a:rPr lang="ar-JO" altLang="en-US" sz="1500" b="1" dirty="0">
                <a:solidFill>
                  <a:srgbClr val="0B6B6B"/>
                </a:solidFill>
                <a:latin typeface="Dubai" pitchFamily="34" charset="0"/>
                <a:ea typeface="Dubai" pitchFamily="34" charset="-122"/>
                <a:cs typeface="Dubai" pitchFamily="34" charset="-120"/>
              </a:rPr>
              <a:t>1</a:t>
            </a:r>
            <a:endParaRPr lang="ar-JO" sz="1500" dirty="0"/>
          </a:p>
        </p:txBody>
      </p:sp>
      <p:sp>
        <p:nvSpPr>
          <p:cNvPr id="17" name="Text 15"/>
          <p:cNvSpPr txBox="1"/>
          <p:nvPr/>
        </p:nvSpPr>
        <p:spPr>
          <a:xfrm>
            <a:off x="4480560" y="1188720"/>
            <a:ext cx="3657600" cy="521208"/>
          </a:xfrm>
          <a:prstGeom prst="rect">
            <a:avLst/>
          </a:prstGeom>
          <a:noFill/>
          <a:ln/>
        </p:spPr>
        <p:txBody>
          <a:bodyPr wrap="square" lIns="0" tIns="0" rIns="0" bIns="0" rtlCol="0" anchor="ctr"/>
          <a:lstStyle/>
          <a:p>
            <a:pPr marL="0" indent="0" algn="r" rtl="1">
              <a:buNone/>
            </a:pPr>
            <a:r>
              <a:rPr lang="ar-JO" altLang="en-US" sz="1500" dirty="0">
                <a:solidFill>
                  <a:srgbClr val="13272B"/>
                </a:solidFill>
                <a:latin typeface="Dubai" pitchFamily="34" charset="0"/>
                <a:ea typeface="Dubai" pitchFamily="34" charset="-122"/>
                <a:cs typeface="Dubai" pitchFamily="34" charset="-120"/>
              </a:rPr>
              <a:t>تتوقع الطلب اليومي على الصنف</a:t>
            </a:r>
            <a:endParaRPr lang="ar-JO" sz="1500" dirty="0"/>
          </a:p>
        </p:txBody>
      </p:sp>
      <p:sp>
        <p:nvSpPr>
          <p:cNvPr id="18" name="Shape 16"/>
          <p:cNvSpPr/>
          <p:nvPr/>
        </p:nvSpPr>
        <p:spPr>
          <a:xfrm>
            <a:off x="8275320" y="1901952"/>
            <a:ext cx="411480" cy="411480"/>
          </a:xfrm>
          <a:prstGeom prst="ellipse">
            <a:avLst/>
          </a:prstGeom>
          <a:solidFill>
            <a:srgbClr val="DCEEED"/>
          </a:solidFill>
          <a:ln w="12700">
            <a:solidFill>
              <a:srgbClr val="0B6B6B"/>
            </a:solidFill>
            <a:prstDash val="solid"/>
          </a:ln>
        </p:spPr>
        <p:txBody>
          <a:bodyPr/>
          <a:lstStyle/>
          <a:p>
            <a:endParaRPr lang="en-US"/>
          </a:p>
        </p:txBody>
      </p:sp>
      <p:sp>
        <p:nvSpPr>
          <p:cNvPr id="19" name="Text 17"/>
          <p:cNvSpPr txBox="1"/>
          <p:nvPr/>
        </p:nvSpPr>
        <p:spPr>
          <a:xfrm>
            <a:off x="8275320" y="1901952"/>
            <a:ext cx="411480" cy="411480"/>
          </a:xfrm>
          <a:prstGeom prst="rect">
            <a:avLst/>
          </a:prstGeom>
          <a:noFill/>
          <a:ln/>
        </p:spPr>
        <p:txBody>
          <a:bodyPr wrap="square" lIns="0" tIns="0" rIns="0" bIns="0" rtlCol="0" anchor="ctr"/>
          <a:lstStyle/>
          <a:p>
            <a:pPr marL="0" indent="0" algn="ctr" rtl="1">
              <a:buNone/>
            </a:pPr>
            <a:r>
              <a:rPr lang="ar-JO" altLang="en-US" sz="1500" b="1" dirty="0">
                <a:solidFill>
                  <a:srgbClr val="0B6B6B"/>
                </a:solidFill>
                <a:latin typeface="Dubai" pitchFamily="34" charset="0"/>
                <a:ea typeface="Dubai" pitchFamily="34" charset="-122"/>
                <a:cs typeface="Dubai" pitchFamily="34" charset="-120"/>
              </a:rPr>
              <a:t>2</a:t>
            </a:r>
            <a:endParaRPr lang="ar-JO" sz="1500" dirty="0"/>
          </a:p>
        </p:txBody>
      </p:sp>
      <p:sp>
        <p:nvSpPr>
          <p:cNvPr id="20" name="Text 18"/>
          <p:cNvSpPr txBox="1"/>
          <p:nvPr/>
        </p:nvSpPr>
        <p:spPr>
          <a:xfrm>
            <a:off x="4480560" y="1847088"/>
            <a:ext cx="3657600" cy="521208"/>
          </a:xfrm>
          <a:prstGeom prst="rect">
            <a:avLst/>
          </a:prstGeom>
          <a:noFill/>
          <a:ln/>
        </p:spPr>
        <p:txBody>
          <a:bodyPr wrap="square" lIns="0" tIns="0" rIns="0" bIns="0" rtlCol="0" anchor="ctr"/>
          <a:lstStyle/>
          <a:p>
            <a:pPr marL="0" indent="0" algn="r" rtl="1">
              <a:buNone/>
            </a:pPr>
            <a:r>
              <a:rPr lang="ar-JO" altLang="en-US" sz="1500" dirty="0">
                <a:solidFill>
                  <a:srgbClr val="13272B"/>
                </a:solidFill>
                <a:latin typeface="Dubai" pitchFamily="34" charset="0"/>
                <a:ea typeface="Dubai" pitchFamily="34" charset="-122"/>
                <a:cs typeface="Dubai" pitchFamily="34" charset="-120"/>
              </a:rPr>
              <a:t>تقارنه بالمخزون ومهلة المورّد</a:t>
            </a:r>
            <a:endParaRPr lang="ar-JO" sz="1500" dirty="0"/>
          </a:p>
        </p:txBody>
      </p:sp>
      <p:sp>
        <p:nvSpPr>
          <p:cNvPr id="21" name="Shape 19"/>
          <p:cNvSpPr/>
          <p:nvPr/>
        </p:nvSpPr>
        <p:spPr>
          <a:xfrm>
            <a:off x="8275320" y="2560320"/>
            <a:ext cx="411480" cy="411480"/>
          </a:xfrm>
          <a:prstGeom prst="ellipse">
            <a:avLst/>
          </a:prstGeom>
          <a:solidFill>
            <a:srgbClr val="DCEEED"/>
          </a:solidFill>
          <a:ln w="12700">
            <a:solidFill>
              <a:srgbClr val="0B6B6B"/>
            </a:solidFill>
            <a:prstDash val="solid"/>
          </a:ln>
        </p:spPr>
        <p:txBody>
          <a:bodyPr/>
          <a:lstStyle/>
          <a:p>
            <a:endParaRPr lang="en-US"/>
          </a:p>
        </p:txBody>
      </p:sp>
      <p:sp>
        <p:nvSpPr>
          <p:cNvPr id="22" name="Text 20"/>
          <p:cNvSpPr txBox="1"/>
          <p:nvPr/>
        </p:nvSpPr>
        <p:spPr>
          <a:xfrm>
            <a:off x="8275320" y="2560320"/>
            <a:ext cx="411480" cy="411480"/>
          </a:xfrm>
          <a:prstGeom prst="rect">
            <a:avLst/>
          </a:prstGeom>
          <a:noFill/>
          <a:ln/>
        </p:spPr>
        <p:txBody>
          <a:bodyPr wrap="square" lIns="0" tIns="0" rIns="0" bIns="0" rtlCol="0" anchor="ctr"/>
          <a:lstStyle/>
          <a:p>
            <a:pPr marL="0" indent="0" algn="ctr" rtl="1">
              <a:buNone/>
            </a:pPr>
            <a:r>
              <a:rPr lang="ar-JO" altLang="en-US" sz="1500" b="1" dirty="0">
                <a:solidFill>
                  <a:srgbClr val="0B6B6B"/>
                </a:solidFill>
                <a:latin typeface="Dubai" pitchFamily="34" charset="0"/>
                <a:ea typeface="Dubai" pitchFamily="34" charset="-122"/>
                <a:cs typeface="Dubai" pitchFamily="34" charset="-120"/>
              </a:rPr>
              <a:t>3</a:t>
            </a:r>
            <a:endParaRPr lang="ar-JO" sz="1500" dirty="0"/>
          </a:p>
        </p:txBody>
      </p:sp>
      <p:sp>
        <p:nvSpPr>
          <p:cNvPr id="23" name="Text 21"/>
          <p:cNvSpPr txBox="1"/>
          <p:nvPr/>
        </p:nvSpPr>
        <p:spPr>
          <a:xfrm>
            <a:off x="4480560" y="2505456"/>
            <a:ext cx="3657600" cy="521208"/>
          </a:xfrm>
          <a:prstGeom prst="rect">
            <a:avLst/>
          </a:prstGeom>
          <a:noFill/>
          <a:ln/>
        </p:spPr>
        <p:txBody>
          <a:bodyPr wrap="square" lIns="0" tIns="0" rIns="0" bIns="0" rtlCol="0" anchor="ctr"/>
          <a:lstStyle/>
          <a:p>
            <a:pPr marL="0" indent="0" algn="r" rtl="1">
              <a:buNone/>
            </a:pPr>
            <a:r>
              <a:rPr lang="ar-JO" altLang="en-US" sz="1500" dirty="0">
                <a:solidFill>
                  <a:srgbClr val="13272B"/>
                </a:solidFill>
                <a:latin typeface="Dubai" pitchFamily="34" charset="0"/>
                <a:ea typeface="Dubai" pitchFamily="34" charset="-122"/>
                <a:cs typeface="Dubai" pitchFamily="34" charset="-120"/>
              </a:rPr>
              <a:t>تنبّه: النفاد قبل وصول الطلب</a:t>
            </a:r>
            <a:endParaRPr lang="ar-JO" sz="1500" dirty="0"/>
          </a:p>
        </p:txBody>
      </p:sp>
      <p:sp>
        <p:nvSpPr>
          <p:cNvPr id="24" name="Shape 22"/>
          <p:cNvSpPr/>
          <p:nvPr/>
        </p:nvSpPr>
        <p:spPr>
          <a:xfrm>
            <a:off x="8275320" y="3218688"/>
            <a:ext cx="411480" cy="411480"/>
          </a:xfrm>
          <a:prstGeom prst="ellipse">
            <a:avLst/>
          </a:prstGeom>
          <a:solidFill>
            <a:srgbClr val="DCEEED"/>
          </a:solidFill>
          <a:ln w="12700">
            <a:solidFill>
              <a:srgbClr val="0B6B6B"/>
            </a:solidFill>
            <a:prstDash val="solid"/>
          </a:ln>
        </p:spPr>
        <p:txBody>
          <a:bodyPr/>
          <a:lstStyle/>
          <a:p>
            <a:endParaRPr lang="en-US"/>
          </a:p>
        </p:txBody>
      </p:sp>
      <p:sp>
        <p:nvSpPr>
          <p:cNvPr id="25" name="Text 23"/>
          <p:cNvSpPr txBox="1"/>
          <p:nvPr/>
        </p:nvSpPr>
        <p:spPr>
          <a:xfrm>
            <a:off x="8275320" y="3218688"/>
            <a:ext cx="411480" cy="411480"/>
          </a:xfrm>
          <a:prstGeom prst="rect">
            <a:avLst/>
          </a:prstGeom>
          <a:noFill/>
          <a:ln/>
        </p:spPr>
        <p:txBody>
          <a:bodyPr wrap="square" lIns="0" tIns="0" rIns="0" bIns="0" rtlCol="0" anchor="ctr"/>
          <a:lstStyle/>
          <a:p>
            <a:pPr marL="0" indent="0" algn="ctr" rtl="1">
              <a:buNone/>
            </a:pPr>
            <a:r>
              <a:rPr lang="ar-JO" altLang="en-US" sz="1500" b="1" dirty="0">
                <a:solidFill>
                  <a:srgbClr val="0B6B6B"/>
                </a:solidFill>
                <a:latin typeface="Dubai" pitchFamily="34" charset="0"/>
                <a:ea typeface="Dubai" pitchFamily="34" charset="-122"/>
                <a:cs typeface="Dubai" pitchFamily="34" charset="-120"/>
              </a:rPr>
              <a:t>4</a:t>
            </a:r>
            <a:endParaRPr lang="ar-JO" sz="1500" dirty="0"/>
          </a:p>
        </p:txBody>
      </p:sp>
      <p:sp>
        <p:nvSpPr>
          <p:cNvPr id="26" name="Text 24"/>
          <p:cNvSpPr txBox="1"/>
          <p:nvPr/>
        </p:nvSpPr>
        <p:spPr>
          <a:xfrm>
            <a:off x="4480560" y="3163824"/>
            <a:ext cx="3657600" cy="521208"/>
          </a:xfrm>
          <a:prstGeom prst="rect">
            <a:avLst/>
          </a:prstGeom>
          <a:noFill/>
          <a:ln/>
        </p:spPr>
        <p:txBody>
          <a:bodyPr wrap="square" lIns="0" tIns="0" rIns="0" bIns="0" rtlCol="0" anchor="ctr"/>
          <a:lstStyle/>
          <a:p>
            <a:pPr marL="0" indent="0" algn="r" rtl="1">
              <a:buNone/>
            </a:pPr>
            <a:r>
              <a:rPr lang="ar-JO" altLang="en-US" sz="1500" dirty="0">
                <a:solidFill>
                  <a:srgbClr val="13272B"/>
                </a:solidFill>
                <a:latin typeface="Dubai" pitchFamily="34" charset="0"/>
                <a:ea typeface="Dubai" pitchFamily="34" charset="-122"/>
                <a:cs typeface="Dubai" pitchFamily="34" charset="-120"/>
              </a:rPr>
              <a:t>تقترح طلباً أو نقل فائض</a:t>
            </a:r>
            <a:endParaRPr lang="ar-JO" sz="1500" dirty="0"/>
          </a:p>
        </p:txBody>
      </p:sp>
      <p:sp>
        <p:nvSpPr>
          <p:cNvPr id="27" name="Shape 25"/>
          <p:cNvSpPr/>
          <p:nvPr/>
        </p:nvSpPr>
        <p:spPr>
          <a:xfrm>
            <a:off x="8275320" y="3877056"/>
            <a:ext cx="411480" cy="411480"/>
          </a:xfrm>
          <a:prstGeom prst="ellipse">
            <a:avLst/>
          </a:prstGeom>
          <a:solidFill>
            <a:srgbClr val="0B6B6B"/>
          </a:solidFill>
          <a:ln w="12700">
            <a:solidFill>
              <a:srgbClr val="0B6B6B"/>
            </a:solidFill>
            <a:prstDash val="solid"/>
          </a:ln>
        </p:spPr>
        <p:txBody>
          <a:bodyPr/>
          <a:lstStyle/>
          <a:p>
            <a:endParaRPr lang="en-US"/>
          </a:p>
        </p:txBody>
      </p:sp>
      <p:sp>
        <p:nvSpPr>
          <p:cNvPr id="28" name="Text 26"/>
          <p:cNvSpPr txBox="1"/>
          <p:nvPr/>
        </p:nvSpPr>
        <p:spPr>
          <a:xfrm>
            <a:off x="8275320" y="3877056"/>
            <a:ext cx="411480" cy="411480"/>
          </a:xfrm>
          <a:prstGeom prst="rect">
            <a:avLst/>
          </a:prstGeom>
          <a:noFill/>
          <a:ln/>
        </p:spPr>
        <p:txBody>
          <a:bodyPr wrap="square" lIns="0" tIns="0" rIns="0" bIns="0" rtlCol="0" anchor="ctr"/>
          <a:lstStyle/>
          <a:p>
            <a:pPr marL="0" indent="0" algn="ctr" rtl="1">
              <a:buNone/>
            </a:pPr>
            <a:r>
              <a:rPr lang="ar-JO" altLang="en-US" sz="1500" b="1" dirty="0">
                <a:solidFill>
                  <a:srgbClr val="FFFFFF"/>
                </a:solidFill>
                <a:latin typeface="Dubai" pitchFamily="34" charset="0"/>
                <a:ea typeface="Dubai" pitchFamily="34" charset="-122"/>
                <a:cs typeface="Dubai" pitchFamily="34" charset="-120"/>
              </a:rPr>
              <a:t>5</a:t>
            </a:r>
            <a:endParaRPr lang="ar-JO" sz="1500" dirty="0"/>
          </a:p>
        </p:txBody>
      </p:sp>
      <p:sp>
        <p:nvSpPr>
          <p:cNvPr id="29" name="Text 27"/>
          <p:cNvSpPr txBox="1"/>
          <p:nvPr/>
        </p:nvSpPr>
        <p:spPr>
          <a:xfrm>
            <a:off x="4480560" y="3822192"/>
            <a:ext cx="3657600" cy="521208"/>
          </a:xfrm>
          <a:prstGeom prst="rect">
            <a:avLst/>
          </a:prstGeom>
          <a:noFill/>
          <a:ln/>
        </p:spPr>
        <p:txBody>
          <a:bodyPr wrap="square" lIns="0" tIns="0" rIns="0" bIns="0" rtlCol="0" anchor="ctr"/>
          <a:lstStyle/>
          <a:p>
            <a:pPr marL="0" indent="0" algn="r" rtl="1">
              <a:buNone/>
            </a:pPr>
            <a:r>
              <a:rPr lang="ar-JO" altLang="en-US" sz="1500" dirty="0">
                <a:solidFill>
                  <a:srgbClr val="13272B"/>
                </a:solidFill>
                <a:latin typeface="Dubai" pitchFamily="34" charset="0"/>
                <a:ea typeface="Dubai" pitchFamily="34" charset="-122"/>
                <a:cs typeface="Dubai" pitchFamily="34" charset="-120"/>
              </a:rPr>
              <a:t>صيدلي مخوّل يعتمد أو يرفض ويُسجَّل القرار</a:t>
            </a:r>
            <a:endParaRPr lang="ar-JO" sz="1500" dirty="0"/>
          </a:p>
        </p:txBody>
      </p:sp>
      <p:sp>
        <p:nvSpPr>
          <p:cNvPr id="30" name="Text 28"/>
          <p:cNvSpPr txBox="1"/>
          <p:nvPr/>
        </p:nvSpPr>
        <p:spPr>
          <a:xfrm>
            <a:off x="457200" y="4617720"/>
            <a:ext cx="8229600" cy="32004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رسم توضيحي مبسّط لواجهة المنصة: مثال افتراضي وليس حالة حقيقية.</a:t>
            </a:r>
            <a:endParaRPr lang="ar-JO"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القيمة المتوقعة، وليست نتائج محققة</a:t>
            </a:r>
            <a:endParaRPr lang="ar-JO" sz="3000" dirty="0"/>
          </a:p>
        </p:txBody>
      </p:sp>
      <p:sp>
        <p:nvSpPr>
          <p:cNvPr id="3" name="Text 1"/>
          <p:cNvSpPr txBox="1"/>
          <p:nvPr/>
        </p:nvSpPr>
        <p:spPr>
          <a:xfrm>
            <a:off x="6263640" y="1097280"/>
            <a:ext cx="1920240" cy="274320"/>
          </a:xfrm>
          <a:prstGeom prst="rect">
            <a:avLst/>
          </a:prstGeom>
          <a:noFill/>
          <a:ln/>
        </p:spPr>
        <p:txBody>
          <a:bodyPr wrap="square" lIns="0" tIns="0" rIns="0" bIns="0" rtlCol="0" anchor="ctr"/>
          <a:lstStyle/>
          <a:p>
            <a:pPr marL="0" indent="0" algn="r" rtl="1">
              <a:buNone/>
            </a:pPr>
            <a:r>
              <a:rPr lang="ar-JO" altLang="en-US" sz="1200" b="1" dirty="0">
                <a:solidFill>
                  <a:srgbClr val="53676B"/>
                </a:solidFill>
                <a:latin typeface="Dubai" pitchFamily="34" charset="0"/>
                <a:ea typeface="Dubai" pitchFamily="34" charset="-122"/>
                <a:cs typeface="Dubai" pitchFamily="34" charset="-120"/>
              </a:rPr>
              <a:t>الفائدة</a:t>
            </a:r>
            <a:endParaRPr lang="ar-JO" sz="1200" dirty="0"/>
          </a:p>
        </p:txBody>
      </p:sp>
      <p:sp>
        <p:nvSpPr>
          <p:cNvPr id="4" name="Text 2"/>
          <p:cNvSpPr txBox="1"/>
          <p:nvPr/>
        </p:nvSpPr>
        <p:spPr>
          <a:xfrm>
            <a:off x="3291840" y="1097280"/>
            <a:ext cx="2834640" cy="274320"/>
          </a:xfrm>
          <a:prstGeom prst="rect">
            <a:avLst/>
          </a:prstGeom>
          <a:noFill/>
          <a:ln/>
        </p:spPr>
        <p:txBody>
          <a:bodyPr wrap="square" lIns="0" tIns="0" rIns="0" bIns="0" rtlCol="0" anchor="ctr"/>
          <a:lstStyle/>
          <a:p>
            <a:pPr marL="0" indent="0" algn="r" rtl="1">
              <a:buNone/>
            </a:pPr>
            <a:r>
              <a:rPr lang="ar-JO" altLang="en-US" sz="1200" b="1" dirty="0">
                <a:solidFill>
                  <a:srgbClr val="53676B"/>
                </a:solidFill>
                <a:latin typeface="Dubai" pitchFamily="34" charset="0"/>
                <a:ea typeface="Dubai" pitchFamily="34" charset="-122"/>
                <a:cs typeface="Dubai" pitchFamily="34" charset="-120"/>
              </a:rPr>
              <a:t>الوظيفة المرتبطة</a:t>
            </a:r>
            <a:endParaRPr lang="ar-JO" sz="1200" dirty="0"/>
          </a:p>
        </p:txBody>
      </p:sp>
      <p:sp>
        <p:nvSpPr>
          <p:cNvPr id="5" name="Text 3"/>
          <p:cNvSpPr txBox="1"/>
          <p:nvPr/>
        </p:nvSpPr>
        <p:spPr>
          <a:xfrm>
            <a:off x="457200" y="1097280"/>
            <a:ext cx="2743200" cy="274320"/>
          </a:xfrm>
          <a:prstGeom prst="rect">
            <a:avLst/>
          </a:prstGeom>
          <a:noFill/>
          <a:ln/>
        </p:spPr>
        <p:txBody>
          <a:bodyPr wrap="square" lIns="0" tIns="0" rIns="0" bIns="0" rtlCol="0" anchor="ctr"/>
          <a:lstStyle/>
          <a:p>
            <a:pPr marL="0" indent="0" algn="r" rtl="1">
              <a:buNone/>
            </a:pPr>
            <a:r>
              <a:rPr lang="ar-JO" altLang="en-US" sz="1200" b="1" dirty="0">
                <a:solidFill>
                  <a:srgbClr val="53676B"/>
                </a:solidFill>
                <a:latin typeface="Dubai" pitchFamily="34" charset="0"/>
                <a:ea typeface="Dubai" pitchFamily="34" charset="-122"/>
                <a:cs typeface="Dubai" pitchFamily="34" charset="-120"/>
              </a:rPr>
              <a:t>مؤشر القياس المقترح</a:t>
            </a:r>
            <a:endParaRPr lang="ar-JO" sz="1200" dirty="0"/>
          </a:p>
        </p:txBody>
      </p:sp>
      <p:sp>
        <p:nvSpPr>
          <p:cNvPr id="6" name="Shape 4"/>
          <p:cNvSpPr/>
          <p:nvPr/>
        </p:nvSpPr>
        <p:spPr>
          <a:xfrm>
            <a:off x="457200" y="1417320"/>
            <a:ext cx="8229600" cy="658368"/>
          </a:xfrm>
          <a:prstGeom prst="roundRect">
            <a:avLst>
              <a:gd name="adj" fmla="val 13889"/>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7" name="Shape 5"/>
          <p:cNvSpPr/>
          <p:nvPr/>
        </p:nvSpPr>
        <p:spPr>
          <a:xfrm>
            <a:off x="8183880" y="1536192"/>
            <a:ext cx="420624" cy="420624"/>
          </a:xfrm>
          <a:prstGeom prst="ellipse">
            <a:avLst/>
          </a:prstGeom>
          <a:solidFill>
            <a:srgbClr val="0B6B6B"/>
          </a:solidFill>
          <a:ln w="12700">
            <a:solidFill>
              <a:srgbClr val="0B6B6B"/>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284464" y="1636776"/>
            <a:ext cx="219456" cy="219456"/>
          </a:xfrm>
          <a:prstGeom prst="rect">
            <a:avLst/>
          </a:prstGeom>
        </p:spPr>
      </p:pic>
      <p:sp>
        <p:nvSpPr>
          <p:cNvPr id="9" name="Text 6"/>
          <p:cNvSpPr txBox="1"/>
          <p:nvPr/>
        </p:nvSpPr>
        <p:spPr>
          <a:xfrm>
            <a:off x="6263640" y="1417320"/>
            <a:ext cx="1828800" cy="658368"/>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مالي</a:t>
            </a:r>
            <a:endParaRPr lang="ar-JO" sz="1600" dirty="0"/>
          </a:p>
        </p:txBody>
      </p:sp>
      <p:sp>
        <p:nvSpPr>
          <p:cNvPr id="10" name="Text 7"/>
          <p:cNvSpPr txBox="1"/>
          <p:nvPr/>
        </p:nvSpPr>
        <p:spPr>
          <a:xfrm>
            <a:off x="3291840" y="1417320"/>
            <a:ext cx="2834640" cy="658368"/>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تنبيه الانتهاء (FEFO) ونقل الفائض</a:t>
            </a:r>
            <a:endParaRPr lang="ar-JO" sz="1400" dirty="0"/>
          </a:p>
        </p:txBody>
      </p:sp>
      <p:sp>
        <p:nvSpPr>
          <p:cNvPr id="11" name="Text 8"/>
          <p:cNvSpPr txBox="1"/>
          <p:nvPr/>
        </p:nvSpPr>
        <p:spPr>
          <a:xfrm>
            <a:off x="594360" y="1417320"/>
            <a:ext cx="2651760" cy="658368"/>
          </a:xfrm>
          <a:prstGeom prst="rect">
            <a:avLst/>
          </a:prstGeom>
          <a:noFill/>
          <a:ln/>
        </p:spPr>
        <p:txBody>
          <a:bodyPr wrap="square" lIns="0" tIns="0" rIns="0" bIns="0" rtlCol="0" anchor="ctr"/>
          <a:lstStyle/>
          <a:p>
            <a:pPr marL="0" indent="0" algn="r" rtl="1">
              <a:buNone/>
            </a:pPr>
            <a:r>
              <a:rPr lang="ar-JO" altLang="en-US" sz="1400" b="1" dirty="0">
                <a:solidFill>
                  <a:srgbClr val="2A5B99"/>
                </a:solidFill>
                <a:latin typeface="Dubai" pitchFamily="34" charset="0"/>
                <a:ea typeface="Dubai" pitchFamily="34" charset="-122"/>
                <a:cs typeface="Dubai" pitchFamily="34" charset="-120"/>
              </a:rPr>
              <a:t>قيمة الأدوية المعرّضة للهدر</a:t>
            </a:r>
            <a:endParaRPr lang="ar-JO" sz="1400" dirty="0"/>
          </a:p>
        </p:txBody>
      </p:sp>
      <p:sp>
        <p:nvSpPr>
          <p:cNvPr id="12" name="Shape 9"/>
          <p:cNvSpPr/>
          <p:nvPr/>
        </p:nvSpPr>
        <p:spPr>
          <a:xfrm>
            <a:off x="457200" y="2167128"/>
            <a:ext cx="8229600" cy="658368"/>
          </a:xfrm>
          <a:prstGeom prst="roundRect">
            <a:avLst>
              <a:gd name="adj" fmla="val 13889"/>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3" name="Shape 10"/>
          <p:cNvSpPr/>
          <p:nvPr/>
        </p:nvSpPr>
        <p:spPr>
          <a:xfrm>
            <a:off x="8183880" y="2286000"/>
            <a:ext cx="420624" cy="420624"/>
          </a:xfrm>
          <a:prstGeom prst="ellipse">
            <a:avLst/>
          </a:prstGeom>
          <a:solidFill>
            <a:srgbClr val="0B6B6B"/>
          </a:solidFill>
          <a:ln w="12700">
            <a:solidFill>
              <a:srgbClr val="0B6B6B"/>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8284464" y="2386584"/>
            <a:ext cx="219456" cy="219456"/>
          </a:xfrm>
          <a:prstGeom prst="rect">
            <a:avLst/>
          </a:prstGeom>
        </p:spPr>
      </p:pic>
      <p:sp>
        <p:nvSpPr>
          <p:cNvPr id="15" name="Text 11"/>
          <p:cNvSpPr txBox="1"/>
          <p:nvPr/>
        </p:nvSpPr>
        <p:spPr>
          <a:xfrm>
            <a:off x="6263640" y="2167128"/>
            <a:ext cx="1828800" cy="658368"/>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الوقت والكفاءة</a:t>
            </a:r>
            <a:endParaRPr lang="ar-JO" sz="1600" dirty="0"/>
          </a:p>
        </p:txBody>
      </p:sp>
      <p:sp>
        <p:nvSpPr>
          <p:cNvPr id="16" name="Text 12"/>
          <p:cNvSpPr txBox="1"/>
          <p:nvPr/>
        </p:nvSpPr>
        <p:spPr>
          <a:xfrm>
            <a:off x="3291840" y="2167128"/>
            <a:ext cx="2834640" cy="658368"/>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تنبيهات وتوصيات مجمّعة بدل المتابعة اليدوية</a:t>
            </a:r>
            <a:endParaRPr lang="ar-JO" sz="1400" dirty="0"/>
          </a:p>
        </p:txBody>
      </p:sp>
      <p:sp>
        <p:nvSpPr>
          <p:cNvPr id="17" name="Text 13"/>
          <p:cNvSpPr txBox="1"/>
          <p:nvPr/>
        </p:nvSpPr>
        <p:spPr>
          <a:xfrm>
            <a:off x="594360" y="2167128"/>
            <a:ext cx="2651760" cy="658368"/>
          </a:xfrm>
          <a:prstGeom prst="rect">
            <a:avLst/>
          </a:prstGeom>
          <a:noFill/>
          <a:ln/>
        </p:spPr>
        <p:txBody>
          <a:bodyPr wrap="square" lIns="0" tIns="0" rIns="0" bIns="0" rtlCol="0" anchor="ctr"/>
          <a:lstStyle/>
          <a:p>
            <a:pPr marL="0" indent="0" algn="r" rtl="1">
              <a:buNone/>
            </a:pPr>
            <a:r>
              <a:rPr lang="ar-JO" altLang="en-US" sz="1400" b="1" dirty="0">
                <a:solidFill>
                  <a:srgbClr val="2A5B99"/>
                </a:solidFill>
                <a:latin typeface="Dubai" pitchFamily="34" charset="0"/>
                <a:ea typeface="Dubai" pitchFamily="34" charset="-122"/>
                <a:cs typeface="Dubai" pitchFamily="34" charset="-120"/>
              </a:rPr>
              <a:t>زمن اكتشاف المشكلة</a:t>
            </a:r>
            <a:endParaRPr lang="ar-JO" sz="1400" dirty="0"/>
          </a:p>
        </p:txBody>
      </p:sp>
      <p:sp>
        <p:nvSpPr>
          <p:cNvPr id="18" name="Shape 14"/>
          <p:cNvSpPr/>
          <p:nvPr/>
        </p:nvSpPr>
        <p:spPr>
          <a:xfrm>
            <a:off x="457200" y="2916936"/>
            <a:ext cx="8229600" cy="658368"/>
          </a:xfrm>
          <a:prstGeom prst="roundRect">
            <a:avLst>
              <a:gd name="adj" fmla="val 13889"/>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9" name="Shape 15"/>
          <p:cNvSpPr/>
          <p:nvPr/>
        </p:nvSpPr>
        <p:spPr>
          <a:xfrm>
            <a:off x="8183880" y="3035808"/>
            <a:ext cx="420624" cy="420624"/>
          </a:xfrm>
          <a:prstGeom prst="ellipse">
            <a:avLst/>
          </a:prstGeom>
          <a:solidFill>
            <a:srgbClr val="0B6B6B"/>
          </a:solidFill>
          <a:ln w="12700">
            <a:solidFill>
              <a:srgbClr val="0B6B6B"/>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284464" y="3136392"/>
            <a:ext cx="219456" cy="219456"/>
          </a:xfrm>
          <a:prstGeom prst="rect">
            <a:avLst/>
          </a:prstGeom>
        </p:spPr>
      </p:pic>
      <p:sp>
        <p:nvSpPr>
          <p:cNvPr id="21" name="Text 16"/>
          <p:cNvSpPr txBox="1"/>
          <p:nvPr/>
        </p:nvSpPr>
        <p:spPr>
          <a:xfrm>
            <a:off x="6263640" y="2916936"/>
            <a:ext cx="1828800" cy="658368"/>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جودة الخدمة</a:t>
            </a:r>
            <a:endParaRPr lang="ar-JO" sz="1600" dirty="0"/>
          </a:p>
        </p:txBody>
      </p:sp>
      <p:sp>
        <p:nvSpPr>
          <p:cNvPr id="22" name="Text 17"/>
          <p:cNvSpPr txBox="1"/>
          <p:nvPr/>
        </p:nvSpPr>
        <p:spPr>
          <a:xfrm>
            <a:off x="3291840" y="2916936"/>
            <a:ext cx="2834640" cy="658368"/>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تنبؤ النفاد والغياب</a:t>
            </a:r>
            <a:endParaRPr lang="ar-JO" sz="1400" dirty="0"/>
          </a:p>
        </p:txBody>
      </p:sp>
      <p:sp>
        <p:nvSpPr>
          <p:cNvPr id="23" name="Text 18"/>
          <p:cNvSpPr txBox="1"/>
          <p:nvPr/>
        </p:nvSpPr>
        <p:spPr>
          <a:xfrm>
            <a:off x="594360" y="2916936"/>
            <a:ext cx="2651760" cy="658368"/>
          </a:xfrm>
          <a:prstGeom prst="rect">
            <a:avLst/>
          </a:prstGeom>
          <a:noFill/>
          <a:ln/>
        </p:spPr>
        <p:txBody>
          <a:bodyPr wrap="square" lIns="0" tIns="0" rIns="0" bIns="0" rtlCol="0" anchor="ctr"/>
          <a:lstStyle/>
          <a:p>
            <a:pPr marL="0" indent="0" algn="r" rtl="1">
              <a:buNone/>
            </a:pPr>
            <a:r>
              <a:rPr lang="ar-JO" altLang="en-US" sz="1400" b="1" dirty="0">
                <a:solidFill>
                  <a:srgbClr val="2A5B99"/>
                </a:solidFill>
                <a:latin typeface="Dubai" pitchFamily="34" charset="0"/>
                <a:ea typeface="Dubai" pitchFamily="34" charset="-122"/>
                <a:cs typeface="Dubai" pitchFamily="34" charset="-120"/>
              </a:rPr>
              <a:t>معدل نفاد المخزون · معدل عدم الحضور</a:t>
            </a:r>
            <a:endParaRPr lang="ar-JO" sz="1400" dirty="0"/>
          </a:p>
        </p:txBody>
      </p:sp>
      <p:sp>
        <p:nvSpPr>
          <p:cNvPr id="24" name="Shape 19"/>
          <p:cNvSpPr/>
          <p:nvPr/>
        </p:nvSpPr>
        <p:spPr>
          <a:xfrm>
            <a:off x="457200" y="3666744"/>
            <a:ext cx="8229600" cy="658368"/>
          </a:xfrm>
          <a:prstGeom prst="roundRect">
            <a:avLst>
              <a:gd name="adj" fmla="val 13889"/>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25" name="Shape 20"/>
          <p:cNvSpPr/>
          <p:nvPr/>
        </p:nvSpPr>
        <p:spPr>
          <a:xfrm>
            <a:off x="8183880" y="3785616"/>
            <a:ext cx="420624" cy="420624"/>
          </a:xfrm>
          <a:prstGeom prst="ellipse">
            <a:avLst/>
          </a:prstGeom>
          <a:solidFill>
            <a:srgbClr val="0B6B6B"/>
          </a:solidFill>
          <a:ln w="12700">
            <a:solidFill>
              <a:srgbClr val="0B6B6B"/>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8284464" y="3886200"/>
            <a:ext cx="219456" cy="219456"/>
          </a:xfrm>
          <a:prstGeom prst="rect">
            <a:avLst/>
          </a:prstGeom>
        </p:spPr>
      </p:pic>
      <p:sp>
        <p:nvSpPr>
          <p:cNvPr id="27" name="Text 21"/>
          <p:cNvSpPr txBox="1"/>
          <p:nvPr/>
        </p:nvSpPr>
        <p:spPr>
          <a:xfrm>
            <a:off x="6263640" y="3666744"/>
            <a:ext cx="1828800" cy="658368"/>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التخطيط والإدارة</a:t>
            </a:r>
            <a:endParaRPr lang="ar-JO" sz="1600" dirty="0"/>
          </a:p>
        </p:txBody>
      </p:sp>
      <p:sp>
        <p:nvSpPr>
          <p:cNvPr id="28" name="Text 22"/>
          <p:cNvSpPr txBox="1"/>
          <p:nvPr/>
        </p:nvSpPr>
        <p:spPr>
          <a:xfrm>
            <a:off x="3291840" y="3666744"/>
            <a:ext cx="2834640" cy="658368"/>
          </a:xfrm>
          <a:prstGeom prst="rect">
            <a:avLst/>
          </a:prstGeom>
          <a:noFill/>
          <a:ln/>
        </p:spPr>
        <p:txBody>
          <a:bodyPr wrap="square" lIns="0" tIns="0" rIns="0" bIns="0" rtlCol="0" anchor="ctr"/>
          <a:lstStyle/>
          <a:p>
            <a:pPr marL="0" indent="0" algn="r" rtl="1">
              <a:buNone/>
            </a:pPr>
            <a:r>
              <a:rPr lang="ar-JO" altLang="en-US" sz="1400" dirty="0">
                <a:solidFill>
                  <a:srgbClr val="13272B"/>
                </a:solidFill>
                <a:latin typeface="Dubai" pitchFamily="34" charset="0"/>
                <a:ea typeface="Dubai" pitchFamily="34" charset="-122"/>
                <a:cs typeface="Dubai" pitchFamily="34" charset="-120"/>
              </a:rPr>
              <a:t>توقع الإشغال وتنبيه الازدحام</a:t>
            </a:r>
            <a:endParaRPr lang="ar-JO" sz="1400" dirty="0"/>
          </a:p>
        </p:txBody>
      </p:sp>
      <p:sp>
        <p:nvSpPr>
          <p:cNvPr id="29" name="Text 23"/>
          <p:cNvSpPr txBox="1"/>
          <p:nvPr/>
        </p:nvSpPr>
        <p:spPr>
          <a:xfrm>
            <a:off x="594360" y="3666744"/>
            <a:ext cx="2651760" cy="658368"/>
          </a:xfrm>
          <a:prstGeom prst="rect">
            <a:avLst/>
          </a:prstGeom>
          <a:noFill/>
          <a:ln/>
        </p:spPr>
        <p:txBody>
          <a:bodyPr wrap="square" lIns="0" tIns="0" rIns="0" bIns="0" rtlCol="0" anchor="ctr"/>
          <a:lstStyle/>
          <a:p>
            <a:pPr marL="0" indent="0" algn="r" rtl="1">
              <a:buNone/>
            </a:pPr>
            <a:r>
              <a:rPr lang="ar-JO" altLang="en-US" sz="1400" b="1" dirty="0">
                <a:solidFill>
                  <a:srgbClr val="2A5B99"/>
                </a:solidFill>
                <a:latin typeface="Dubai" pitchFamily="34" charset="0"/>
                <a:ea typeface="Dubai" pitchFamily="34" charset="-122"/>
                <a:cs typeface="Dubai" pitchFamily="34" charset="-120"/>
              </a:rPr>
              <a:t>دقة توقع الإشغال (MAE)</a:t>
            </a:r>
            <a:endParaRPr lang="ar-JO" sz="1400" dirty="0"/>
          </a:p>
        </p:txBody>
      </p:sp>
      <p:sp>
        <p:nvSpPr>
          <p:cNvPr id="30" name="Shape 24"/>
          <p:cNvSpPr/>
          <p:nvPr/>
        </p:nvSpPr>
        <p:spPr>
          <a:xfrm>
            <a:off x="457200" y="4480560"/>
            <a:ext cx="8229600" cy="365760"/>
          </a:xfrm>
          <a:prstGeom prst="roundRect">
            <a:avLst>
              <a:gd name="adj" fmla="val 50000"/>
            </a:avLst>
          </a:prstGeom>
          <a:solidFill>
            <a:srgbClr val="F7EFD9"/>
          </a:solidFill>
          <a:ln w="9525">
            <a:solidFill>
              <a:srgbClr val="7A5C12"/>
            </a:solidFill>
            <a:prstDash val="solid"/>
          </a:ln>
          <a:effectLst>
            <a:outerShdw blurRad="101600" dist="25400" dir="5400000" algn="bl" rotWithShape="0">
              <a:srgbClr val="0B3B3B">
                <a:alpha val="10000"/>
              </a:srgbClr>
            </a:outerShdw>
          </a:effectLst>
        </p:spPr>
        <p:txBody>
          <a:bodyPr/>
          <a:lstStyle/>
          <a:p>
            <a:endParaRPr lang="en-US"/>
          </a:p>
        </p:txBody>
      </p:sp>
      <p:sp>
        <p:nvSpPr>
          <p:cNvPr id="31" name="Text 25"/>
          <p:cNvSpPr txBox="1"/>
          <p:nvPr/>
        </p:nvSpPr>
        <p:spPr>
          <a:xfrm>
            <a:off x="457200" y="4480560"/>
            <a:ext cx="8229600" cy="365760"/>
          </a:xfrm>
          <a:prstGeom prst="rect">
            <a:avLst/>
          </a:prstGeom>
          <a:noFill/>
          <a:ln/>
        </p:spPr>
        <p:txBody>
          <a:bodyPr wrap="square" lIns="0" tIns="0" rIns="0" bIns="0" rtlCol="0" anchor="ctr"/>
          <a:lstStyle/>
          <a:p>
            <a:pPr marL="0" indent="0" algn="ctr" rtl="1">
              <a:buNone/>
            </a:pPr>
            <a:r>
              <a:rPr lang="ar-JO" altLang="en-US" sz="1200" b="1" dirty="0">
                <a:solidFill>
                  <a:srgbClr val="7A5C12"/>
                </a:solidFill>
                <a:latin typeface="Dubai" pitchFamily="34" charset="0"/>
                <a:ea typeface="Dubai" pitchFamily="34" charset="-122"/>
                <a:cs typeface="Dubai" pitchFamily="34" charset="-120"/>
              </a:rPr>
              <a:t>لم نحسب وفورات: تُقاس هذه المؤشرات عند التجربة على بيانات حقيقية مصرح بها</a:t>
            </a:r>
            <a:endParaRPr lang="ar-JO"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2"/>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lgn="r" rtl="1">
              <a:buNone/>
            </a:pPr>
            <a:r>
              <a:rPr lang="ar-JO" altLang="en-US" sz="3000" b="1" dirty="0">
                <a:solidFill>
                  <a:srgbClr val="13272B"/>
                </a:solidFill>
                <a:latin typeface="Dubai" pitchFamily="34" charset="0"/>
                <a:ea typeface="Dubai" pitchFamily="34" charset="-122"/>
                <a:cs typeface="Dubai" pitchFamily="34" charset="-120"/>
              </a:rPr>
              <a:t>ما أنجزناه حتى الآن</a:t>
            </a:r>
            <a:endParaRPr lang="ar-JO" sz="3000" dirty="0"/>
          </a:p>
        </p:txBody>
      </p:sp>
      <p:sp>
        <p:nvSpPr>
          <p:cNvPr id="3" name="Shape 1"/>
          <p:cNvSpPr/>
          <p:nvPr/>
        </p:nvSpPr>
        <p:spPr>
          <a:xfrm>
            <a:off x="6035040" y="1005840"/>
            <a:ext cx="2651760" cy="685800"/>
          </a:xfrm>
          <a:prstGeom prst="roundRect">
            <a:avLst>
              <a:gd name="adj" fmla="val 13333"/>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4" name="Text 2"/>
          <p:cNvSpPr txBox="1"/>
          <p:nvPr/>
        </p:nvSpPr>
        <p:spPr>
          <a:xfrm>
            <a:off x="6126480" y="1042416"/>
            <a:ext cx="2468880" cy="22860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بداية المشروع</a:t>
            </a:r>
            <a:endParaRPr lang="ar-JO" sz="1100" dirty="0"/>
          </a:p>
        </p:txBody>
      </p:sp>
      <p:sp>
        <p:nvSpPr>
          <p:cNvPr id="5" name="Text 3"/>
          <p:cNvSpPr txBox="1"/>
          <p:nvPr/>
        </p:nvSpPr>
        <p:spPr>
          <a:xfrm>
            <a:off x="6126480" y="1280160"/>
            <a:ext cx="2468880" cy="347472"/>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أمس · 1:30 ظهراً</a:t>
            </a:r>
            <a:endParaRPr lang="ar-JO" sz="1600" dirty="0"/>
          </a:p>
        </p:txBody>
      </p:sp>
      <p:sp>
        <p:nvSpPr>
          <p:cNvPr id="6" name="Shape 4"/>
          <p:cNvSpPr/>
          <p:nvPr/>
        </p:nvSpPr>
        <p:spPr>
          <a:xfrm>
            <a:off x="3246120" y="1005840"/>
            <a:ext cx="2651760" cy="685800"/>
          </a:xfrm>
          <a:prstGeom prst="roundRect">
            <a:avLst>
              <a:gd name="adj" fmla="val 13333"/>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7" name="Text 5"/>
          <p:cNvSpPr txBox="1"/>
          <p:nvPr/>
        </p:nvSpPr>
        <p:spPr>
          <a:xfrm>
            <a:off x="3337560" y="1042416"/>
            <a:ext cx="2468880" cy="22860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موعد التسليم</a:t>
            </a:r>
            <a:endParaRPr lang="ar-JO" sz="1100" dirty="0"/>
          </a:p>
        </p:txBody>
      </p:sp>
      <p:sp>
        <p:nvSpPr>
          <p:cNvPr id="8" name="Text 6"/>
          <p:cNvSpPr txBox="1"/>
          <p:nvPr/>
        </p:nvSpPr>
        <p:spPr>
          <a:xfrm>
            <a:off x="3337560" y="1280160"/>
            <a:ext cx="2468880" cy="347472"/>
          </a:xfrm>
          <a:prstGeom prst="rect">
            <a:avLst/>
          </a:prstGeom>
          <a:noFill/>
          <a:ln/>
        </p:spPr>
        <p:txBody>
          <a:bodyPr wrap="square" lIns="0" tIns="0" rIns="0" bIns="0" rtlCol="0" anchor="ctr"/>
          <a:lstStyle/>
          <a:p>
            <a:pPr marL="0" indent="0" algn="r" rtl="1">
              <a:buNone/>
            </a:pPr>
            <a:r>
              <a:rPr lang="ar-JO" altLang="en-US" sz="1600" b="1" dirty="0">
                <a:solidFill>
                  <a:srgbClr val="0B6B6B"/>
                </a:solidFill>
                <a:latin typeface="Dubai" pitchFamily="34" charset="0"/>
                <a:ea typeface="Dubai" pitchFamily="34" charset="-122"/>
                <a:cs typeface="Dubai" pitchFamily="34" charset="-120"/>
              </a:rPr>
              <a:t>اليوم · 1:00 ظهراً</a:t>
            </a:r>
            <a:endParaRPr lang="ar-JO" sz="1600" dirty="0"/>
          </a:p>
        </p:txBody>
      </p:sp>
      <p:sp>
        <p:nvSpPr>
          <p:cNvPr id="9" name="Shape 7"/>
          <p:cNvSpPr/>
          <p:nvPr/>
        </p:nvSpPr>
        <p:spPr>
          <a:xfrm>
            <a:off x="457200" y="1005840"/>
            <a:ext cx="2651760" cy="685800"/>
          </a:xfrm>
          <a:prstGeom prst="roundRect">
            <a:avLst>
              <a:gd name="adj" fmla="val 13333"/>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0" name="Text 8"/>
          <p:cNvSpPr txBox="1"/>
          <p:nvPr/>
        </p:nvSpPr>
        <p:spPr>
          <a:xfrm>
            <a:off x="548640" y="1042416"/>
            <a:ext cx="2468880" cy="274320"/>
          </a:xfrm>
          <a:prstGeom prst="rect">
            <a:avLst/>
          </a:prstGeom>
          <a:noFill/>
          <a:ln/>
        </p:spPr>
        <p:txBody>
          <a:bodyPr wrap="square" lIns="0" tIns="0" rIns="0" bIns="0" rtlCol="0" anchor="ctr"/>
          <a:lstStyle/>
          <a:p>
            <a:pPr marL="0" indent="0" algn="r" rtl="1">
              <a:buNone/>
            </a:pPr>
            <a:r>
              <a:rPr lang="ar-JO" altLang="en-US" sz="1300" b="1" dirty="0">
                <a:solidFill>
                  <a:srgbClr val="0B6B6B"/>
                </a:solidFill>
                <a:latin typeface="Dubai" pitchFamily="34" charset="0"/>
                <a:ea typeface="Dubai" pitchFamily="34" charset="-122"/>
                <a:cs typeface="Dubai" pitchFamily="34" charset="-120"/>
              </a:rPr>
              <a:t>الإنجاز التقديري ≈ 64٪</a:t>
            </a:r>
            <a:endParaRPr lang="ar-JO" sz="1300" dirty="0"/>
          </a:p>
        </p:txBody>
      </p:sp>
      <p:sp>
        <p:nvSpPr>
          <p:cNvPr id="11" name="Shape 9"/>
          <p:cNvSpPr/>
          <p:nvPr/>
        </p:nvSpPr>
        <p:spPr>
          <a:xfrm>
            <a:off x="594360" y="1417320"/>
            <a:ext cx="2377440" cy="128016"/>
          </a:xfrm>
          <a:prstGeom prst="roundRect">
            <a:avLst>
              <a:gd name="adj" fmla="val 50000"/>
            </a:avLst>
          </a:prstGeom>
          <a:solidFill>
            <a:srgbClr val="D3DDDB"/>
          </a:solidFill>
          <a:ln w="12700">
            <a:solidFill>
              <a:srgbClr val="D3DDDB"/>
            </a:solidFill>
            <a:prstDash val="solid"/>
          </a:ln>
        </p:spPr>
        <p:txBody>
          <a:bodyPr/>
          <a:lstStyle/>
          <a:p>
            <a:endParaRPr lang="en-US"/>
          </a:p>
        </p:txBody>
      </p:sp>
      <p:sp>
        <p:nvSpPr>
          <p:cNvPr id="12" name="Shape 10"/>
          <p:cNvSpPr/>
          <p:nvPr/>
        </p:nvSpPr>
        <p:spPr>
          <a:xfrm>
            <a:off x="1450238" y="1417320"/>
            <a:ext cx="1521562" cy="128016"/>
          </a:xfrm>
          <a:prstGeom prst="roundRect">
            <a:avLst>
              <a:gd name="adj" fmla="val 50000"/>
            </a:avLst>
          </a:prstGeom>
          <a:solidFill>
            <a:srgbClr val="0B6B6B"/>
          </a:solidFill>
          <a:ln w="12700">
            <a:solidFill>
              <a:srgbClr val="0B6B6B"/>
            </a:solidFill>
            <a:prstDash val="solid"/>
          </a:ln>
        </p:spPr>
        <p:txBody>
          <a:bodyPr/>
          <a:lstStyle/>
          <a:p>
            <a:endParaRPr lang="en-US"/>
          </a:p>
        </p:txBody>
      </p:sp>
      <p:sp>
        <p:nvSpPr>
          <p:cNvPr id="13" name="Shape 11"/>
          <p:cNvSpPr/>
          <p:nvPr/>
        </p:nvSpPr>
        <p:spPr>
          <a:xfrm>
            <a:off x="6035040" y="1874520"/>
            <a:ext cx="2651760" cy="2743200"/>
          </a:xfrm>
          <a:prstGeom prst="roundRect">
            <a:avLst>
              <a:gd name="adj" fmla="val 3448"/>
            </a:avLst>
          </a:prstGeom>
          <a:solidFill>
            <a:srgbClr val="DCEEED"/>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4" name="Shape 12"/>
          <p:cNvSpPr/>
          <p:nvPr/>
        </p:nvSpPr>
        <p:spPr>
          <a:xfrm>
            <a:off x="6035040" y="1874520"/>
            <a:ext cx="2651760" cy="457200"/>
          </a:xfrm>
          <a:prstGeom prst="roundRect">
            <a:avLst>
              <a:gd name="adj" fmla="val 20000"/>
            </a:avLst>
          </a:prstGeom>
          <a:solidFill>
            <a:srgbClr val="0B6B6B"/>
          </a:solidFill>
          <a:ln w="12700">
            <a:solidFill>
              <a:srgbClr val="0B6B6B"/>
            </a:solidFill>
            <a:prstDash val="solid"/>
          </a:ln>
        </p:spPr>
        <p:txBody>
          <a:bodyPr/>
          <a:lstStyle/>
          <a:p>
            <a:endParaRPr lang="en-US"/>
          </a:p>
        </p:txBody>
      </p:sp>
      <p:sp>
        <p:nvSpPr>
          <p:cNvPr id="15" name="Text 13"/>
          <p:cNvSpPr txBox="1"/>
          <p:nvPr/>
        </p:nvSpPr>
        <p:spPr>
          <a:xfrm>
            <a:off x="6126480" y="1874520"/>
            <a:ext cx="2468880" cy="45720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مكتمل فعلياً</a:t>
            </a:r>
            <a:endParaRPr lang="ar-JO" sz="1300" dirty="0"/>
          </a:p>
        </p:txBody>
      </p:sp>
      <p:sp>
        <p:nvSpPr>
          <p:cNvPr id="16" name="Text 14"/>
          <p:cNvSpPr txBox="1"/>
          <p:nvPr/>
        </p:nvSpPr>
        <p:spPr>
          <a:xfrm>
            <a:off x="6144768" y="2423160"/>
            <a:ext cx="2432304" cy="2148840"/>
          </a:xfrm>
          <a:prstGeom prst="rect">
            <a:avLst/>
          </a:prstGeom>
          <a:noFill/>
          <a:ln/>
        </p:spPr>
        <p:txBody>
          <a:bodyPr wrap="square" lIns="0" tIns="0" rIns="0" bIns="0" rtlCol="0" anchor="t"/>
          <a:lstStyle/>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واجهة عربية RTL بستة أقسام</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وحدات الأدوية والعيادات والأسرّة</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مراجعة بشرية بثلاثة أدوار وسجل تدقيق</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وسم يوضّح مصدر كل رقم</a:t>
            </a:r>
            <a:endParaRPr lang="ar-JO" sz="1400" dirty="0"/>
          </a:p>
        </p:txBody>
      </p:sp>
      <p:sp>
        <p:nvSpPr>
          <p:cNvPr id="17" name="Shape 15"/>
          <p:cNvSpPr/>
          <p:nvPr/>
        </p:nvSpPr>
        <p:spPr>
          <a:xfrm>
            <a:off x="3246120" y="1874520"/>
            <a:ext cx="2651760" cy="2743200"/>
          </a:xfrm>
          <a:prstGeom prst="roundRect">
            <a:avLst>
              <a:gd name="adj" fmla="val 3448"/>
            </a:avLst>
          </a:prstGeom>
          <a:solidFill>
            <a:srgbClr val="E4ECF8"/>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18" name="Shape 16"/>
          <p:cNvSpPr/>
          <p:nvPr/>
        </p:nvSpPr>
        <p:spPr>
          <a:xfrm>
            <a:off x="3246120" y="1874520"/>
            <a:ext cx="2651760" cy="457200"/>
          </a:xfrm>
          <a:prstGeom prst="roundRect">
            <a:avLst>
              <a:gd name="adj" fmla="val 20000"/>
            </a:avLst>
          </a:prstGeom>
          <a:solidFill>
            <a:srgbClr val="2A5B99"/>
          </a:solidFill>
          <a:ln w="12700">
            <a:solidFill>
              <a:srgbClr val="2A5B99"/>
            </a:solidFill>
            <a:prstDash val="solid"/>
          </a:ln>
        </p:spPr>
        <p:txBody>
          <a:bodyPr/>
          <a:lstStyle/>
          <a:p>
            <a:endParaRPr lang="en-US"/>
          </a:p>
        </p:txBody>
      </p:sp>
      <p:sp>
        <p:nvSpPr>
          <p:cNvPr id="19" name="Text 17"/>
          <p:cNvSpPr txBox="1"/>
          <p:nvPr/>
        </p:nvSpPr>
        <p:spPr>
          <a:xfrm>
            <a:off x="3337560" y="1874520"/>
            <a:ext cx="2468880" cy="45720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اختُبر بيانات تجريبية/محاكاة</a:t>
            </a:r>
            <a:endParaRPr lang="ar-JO" sz="1300" dirty="0"/>
          </a:p>
        </p:txBody>
      </p:sp>
      <p:sp>
        <p:nvSpPr>
          <p:cNvPr id="20" name="Text 18"/>
          <p:cNvSpPr txBox="1"/>
          <p:nvPr/>
        </p:nvSpPr>
        <p:spPr>
          <a:xfrm>
            <a:off x="3355848" y="2423160"/>
            <a:ext cx="2432304" cy="2148840"/>
          </a:xfrm>
          <a:prstGeom prst="rect">
            <a:avLst/>
          </a:prstGeom>
          <a:noFill/>
          <a:ln/>
        </p:spPr>
        <p:txBody>
          <a:bodyPr wrap="square" lIns="0" tIns="0" rIns="0" bIns="0" rtlCol="0" anchor="t"/>
          <a:lstStyle/>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تنبؤ الطلب مقابل خط أساس (56 يوماً)</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تنبؤ الغياب: AUC وBrier (30 يوماً)</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محاكاة سياستي إعادة الطلب (120 يوماً)</a:t>
            </a:r>
            <a:endParaRPr lang="ar-JO" sz="1400" dirty="0"/>
          </a:p>
        </p:txBody>
      </p:sp>
      <p:sp>
        <p:nvSpPr>
          <p:cNvPr id="21" name="Shape 19"/>
          <p:cNvSpPr/>
          <p:nvPr/>
        </p:nvSpPr>
        <p:spPr>
          <a:xfrm>
            <a:off x="457200" y="1874520"/>
            <a:ext cx="2651760" cy="2743200"/>
          </a:xfrm>
          <a:prstGeom prst="roundRect">
            <a:avLst>
              <a:gd name="adj" fmla="val 3448"/>
            </a:avLst>
          </a:prstGeom>
          <a:solidFill>
            <a:srgbClr val="FFFFFF"/>
          </a:solidFill>
          <a:ln w="9525">
            <a:solidFill>
              <a:srgbClr val="D3DDDB"/>
            </a:solidFill>
            <a:prstDash val="solid"/>
          </a:ln>
          <a:effectLst>
            <a:outerShdw blurRad="101600" dist="25400" dir="5400000" algn="bl" rotWithShape="0">
              <a:srgbClr val="0B3B3B">
                <a:alpha val="10000"/>
              </a:srgbClr>
            </a:outerShdw>
          </a:effectLst>
        </p:spPr>
        <p:txBody>
          <a:bodyPr/>
          <a:lstStyle/>
          <a:p>
            <a:endParaRPr lang="en-US"/>
          </a:p>
        </p:txBody>
      </p:sp>
      <p:sp>
        <p:nvSpPr>
          <p:cNvPr id="22" name="Shape 20"/>
          <p:cNvSpPr/>
          <p:nvPr/>
        </p:nvSpPr>
        <p:spPr>
          <a:xfrm>
            <a:off x="457200" y="1874520"/>
            <a:ext cx="2651760" cy="457200"/>
          </a:xfrm>
          <a:prstGeom prst="roundRect">
            <a:avLst>
              <a:gd name="adj" fmla="val 20000"/>
            </a:avLst>
          </a:prstGeom>
          <a:solidFill>
            <a:srgbClr val="53676B"/>
          </a:solidFill>
          <a:ln w="12700">
            <a:solidFill>
              <a:srgbClr val="53676B"/>
            </a:solidFill>
            <a:prstDash val="solid"/>
          </a:ln>
        </p:spPr>
        <p:txBody>
          <a:bodyPr/>
          <a:lstStyle/>
          <a:p>
            <a:endParaRPr lang="en-US"/>
          </a:p>
        </p:txBody>
      </p:sp>
      <p:sp>
        <p:nvSpPr>
          <p:cNvPr id="23" name="Text 21"/>
          <p:cNvSpPr txBox="1"/>
          <p:nvPr/>
        </p:nvSpPr>
        <p:spPr>
          <a:xfrm>
            <a:off x="548640" y="1874520"/>
            <a:ext cx="2468880" cy="457200"/>
          </a:xfrm>
          <a:prstGeom prst="rect">
            <a:avLst/>
          </a:prstGeom>
          <a:noFill/>
          <a:ln/>
        </p:spPr>
        <p:txBody>
          <a:bodyPr wrap="square" lIns="0" tIns="0" rIns="0" bIns="0" rtlCol="0" anchor="ctr"/>
          <a:lstStyle/>
          <a:p>
            <a:pPr marL="0" indent="0" algn="ctr" rtl="1">
              <a:buNone/>
            </a:pPr>
            <a:r>
              <a:rPr lang="ar-JO" altLang="en-US" sz="1300" b="1" dirty="0">
                <a:solidFill>
                  <a:srgbClr val="FFFFFF"/>
                </a:solidFill>
                <a:latin typeface="Dubai" pitchFamily="34" charset="0"/>
                <a:ea typeface="Dubai" pitchFamily="34" charset="-122"/>
                <a:cs typeface="Dubai" pitchFamily="34" charset="-120"/>
              </a:rPr>
              <a:t>متبقٍ أو مخطط</a:t>
            </a:r>
            <a:endParaRPr lang="ar-JO" sz="1300" dirty="0"/>
          </a:p>
        </p:txBody>
      </p:sp>
      <p:sp>
        <p:nvSpPr>
          <p:cNvPr id="24" name="Text 22"/>
          <p:cNvSpPr txBox="1"/>
          <p:nvPr/>
        </p:nvSpPr>
        <p:spPr>
          <a:xfrm>
            <a:off x="566928" y="2423160"/>
            <a:ext cx="2432304" cy="2148840"/>
          </a:xfrm>
          <a:prstGeom prst="rect">
            <a:avLst/>
          </a:prstGeom>
          <a:noFill/>
          <a:ln/>
        </p:spPr>
        <p:txBody>
          <a:bodyPr wrap="square" lIns="0" tIns="0" rIns="0" bIns="0" rtlCol="0" anchor="t"/>
          <a:lstStyle/>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بيانات حقيقية مصرح بها</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خادم FastAPI وقاعدة PostgreSQL</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تحقق سريري وتجربة صامتة</a:t>
            </a:r>
            <a:endParaRPr lang="ar-JO" sz="1400" dirty="0"/>
          </a:p>
          <a:p>
            <a:pPr marL="342900" indent="-342900" algn="r">
              <a:spcAft>
                <a:spcPts val="400"/>
              </a:spcAft>
              <a:buSzPct val="100000"/>
              <a:buChar char="•"/>
            </a:pPr>
            <a:r>
              <a:rPr lang="ar-JO" altLang="en-US" sz="1400" dirty="0">
                <a:solidFill>
                  <a:srgbClr val="13272B"/>
                </a:solidFill>
                <a:latin typeface="Dubai" pitchFamily="34" charset="0"/>
                <a:ea typeface="Dubai" pitchFamily="34" charset="-122"/>
                <a:cs typeface="Dubai" pitchFamily="34" charset="-120"/>
              </a:rPr>
              <a:t>الامتثال لحماية البيانات</a:t>
            </a:r>
            <a:endParaRPr lang="ar-JO" sz="1400" dirty="0"/>
          </a:p>
        </p:txBody>
      </p:sp>
      <p:sp>
        <p:nvSpPr>
          <p:cNvPr id="25" name="Text 23"/>
          <p:cNvSpPr txBox="1"/>
          <p:nvPr/>
        </p:nvSpPr>
        <p:spPr>
          <a:xfrm>
            <a:off x="457200" y="4681728"/>
            <a:ext cx="8229600" cy="320040"/>
          </a:xfrm>
          <a:prstGeom prst="rect">
            <a:avLst/>
          </a:prstGeom>
          <a:noFill/>
          <a:ln/>
        </p:spPr>
        <p:txBody>
          <a:bodyPr wrap="square" lIns="0" tIns="0" rIns="0" bIns="0" rtlCol="0" anchor="ctr"/>
          <a:lstStyle/>
          <a:p>
            <a:pPr marL="0" indent="0" algn="r" rtl="1">
              <a:buNone/>
            </a:pPr>
            <a:r>
              <a:rPr lang="ar-JO" altLang="en-US" sz="1100" dirty="0">
                <a:solidFill>
                  <a:srgbClr val="53676B"/>
                </a:solidFill>
                <a:latin typeface="Dubai" pitchFamily="34" charset="0"/>
                <a:ea typeface="Dubai" pitchFamily="34" charset="-122"/>
                <a:cs typeface="Dubai" pitchFamily="34" charset="-120"/>
              </a:rPr>
              <a:t>كل النتائج على بيانات مولّدة لمستشفيات افتراضية. النسبة تقدير مبني على 7 من 11 بنداً (مكتمل أو مُختبر).</a:t>
            </a:r>
            <a:endParaRPr lang="ar-JO"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72B"/>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8229600" cy="822960"/>
          </a:xfrm>
          <a:prstGeom prst="rect">
            <a:avLst/>
          </a:prstGeom>
          <a:noFill/>
          <a:ln/>
        </p:spPr>
        <p:txBody>
          <a:bodyPr wrap="square" lIns="0" tIns="0" rIns="0" bIns="0" rtlCol="0" anchor="ctr"/>
          <a:lstStyle/>
          <a:p>
            <a:pPr marL="0" indent="0" algn="r" rtl="1">
              <a:buNone/>
            </a:pPr>
            <a:r>
              <a:rPr lang="ar-JO" altLang="en-US" sz="3600" b="1" dirty="0">
                <a:solidFill>
                  <a:srgbClr val="FFFFFF"/>
                </a:solidFill>
                <a:latin typeface="Dubai" pitchFamily="34" charset="0"/>
                <a:ea typeface="Dubai" pitchFamily="34" charset="-122"/>
                <a:cs typeface="Dubai" pitchFamily="34" charset="-120"/>
              </a:rPr>
              <a:t>قرار أفضل… قبل وقوع المشكلة</a:t>
            </a:r>
            <a:endParaRPr lang="ar-JO" sz="3600" dirty="0"/>
          </a:p>
        </p:txBody>
      </p:sp>
      <p:sp>
        <p:nvSpPr>
          <p:cNvPr id="3" name="Text 1"/>
          <p:cNvSpPr txBox="1"/>
          <p:nvPr/>
        </p:nvSpPr>
        <p:spPr>
          <a:xfrm>
            <a:off x="457200" y="1828800"/>
            <a:ext cx="8229600" cy="320040"/>
          </a:xfrm>
          <a:prstGeom prst="rect">
            <a:avLst/>
          </a:prstGeom>
          <a:noFill/>
          <a:ln/>
        </p:spPr>
        <p:txBody>
          <a:bodyPr wrap="square" lIns="0" tIns="0" rIns="0" bIns="0" rtlCol="0" anchor="ctr"/>
          <a:lstStyle/>
          <a:p>
            <a:pPr marL="0" indent="0" algn="r" rtl="1">
              <a:buNone/>
            </a:pPr>
            <a:r>
              <a:rPr lang="ar-JO" altLang="en-US" sz="1400" b="1" dirty="0">
                <a:solidFill>
                  <a:srgbClr val="9FD6D2"/>
                </a:solidFill>
                <a:latin typeface="Dubai" pitchFamily="34" charset="0"/>
                <a:ea typeface="Dubai" pitchFamily="34" charset="-122"/>
                <a:cs typeface="Dubai" pitchFamily="34" charset="-120"/>
              </a:rPr>
              <a:t>الخطوات التالية</a:t>
            </a:r>
            <a:endParaRPr lang="ar-JO" sz="1400" dirty="0"/>
          </a:p>
        </p:txBody>
      </p:sp>
      <p:sp>
        <p:nvSpPr>
          <p:cNvPr id="4" name="Text 2"/>
          <p:cNvSpPr txBox="1"/>
          <p:nvPr/>
        </p:nvSpPr>
        <p:spPr>
          <a:xfrm>
            <a:off x="457200" y="1280160"/>
            <a:ext cx="8229600" cy="457200"/>
          </a:xfrm>
          <a:prstGeom prst="rect">
            <a:avLst/>
          </a:prstGeom>
          <a:noFill/>
          <a:ln/>
        </p:spPr>
        <p:txBody>
          <a:bodyPr wrap="square" lIns="0" tIns="0" rIns="0" bIns="0" rtlCol="0" anchor="ctr"/>
          <a:lstStyle/>
          <a:p>
            <a:pPr marL="0" indent="0" algn="r" rtl="1">
              <a:buNone/>
            </a:pPr>
            <a:r>
              <a:rPr lang="ar-JO" altLang="en-US" sz="1700" dirty="0">
                <a:solidFill>
                  <a:srgbClr val="9FD6D2"/>
                </a:solidFill>
                <a:latin typeface="Dubai" pitchFamily="34" charset="0"/>
                <a:ea typeface="Dubai" pitchFamily="34" charset="-122"/>
                <a:cs typeface="Dubai" pitchFamily="34" charset="-120"/>
              </a:rPr>
              <a:t>نموذج أولي يعمل، يوفّر رؤية أوضح للمخاطر، ويبقي القرار بيد الإنسان</a:t>
            </a:r>
            <a:endParaRPr lang="ar-JO" sz="1700" dirty="0"/>
          </a:p>
        </p:txBody>
      </p:sp>
      <p:sp>
        <p:nvSpPr>
          <p:cNvPr id="5" name="Shape 3"/>
          <p:cNvSpPr/>
          <p:nvPr/>
        </p:nvSpPr>
        <p:spPr>
          <a:xfrm>
            <a:off x="6071616" y="2286000"/>
            <a:ext cx="2615184" cy="1463040"/>
          </a:xfrm>
          <a:prstGeom prst="roundRect">
            <a:avLst>
              <a:gd name="adj" fmla="val 6250"/>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6" name="Shape 4"/>
          <p:cNvSpPr/>
          <p:nvPr/>
        </p:nvSpPr>
        <p:spPr>
          <a:xfrm>
            <a:off x="7150608" y="2395728"/>
            <a:ext cx="457200" cy="457200"/>
          </a:xfrm>
          <a:prstGeom prst="ellipse">
            <a:avLst/>
          </a:prstGeom>
          <a:solidFill>
            <a:srgbClr val="45B8B2"/>
          </a:solidFill>
          <a:ln w="12700">
            <a:solidFill>
              <a:srgbClr val="45B8B2"/>
            </a:solidFill>
            <a:prstDash val="solid"/>
          </a:ln>
        </p:spPr>
        <p:txBody>
          <a:bodyPr/>
          <a:lstStyle/>
          <a:p>
            <a:endParaRPr lang="en-US"/>
          </a:p>
        </p:txBody>
      </p:sp>
      <p:sp>
        <p:nvSpPr>
          <p:cNvPr id="7" name="Text 5"/>
          <p:cNvSpPr txBox="1"/>
          <p:nvPr/>
        </p:nvSpPr>
        <p:spPr>
          <a:xfrm>
            <a:off x="7150608" y="2395728"/>
            <a:ext cx="457200" cy="457200"/>
          </a:xfrm>
          <a:prstGeom prst="rect">
            <a:avLst/>
          </a:prstGeom>
          <a:noFill/>
          <a:ln/>
        </p:spPr>
        <p:txBody>
          <a:bodyPr wrap="square" lIns="0" tIns="0" rIns="0" bIns="0" rtlCol="0" anchor="ctr"/>
          <a:lstStyle/>
          <a:p>
            <a:pPr marL="0" indent="0" algn="ctr" rtl="1">
              <a:buNone/>
            </a:pPr>
            <a:r>
              <a:rPr lang="ar-JO" altLang="en-US" sz="1600" b="1" dirty="0">
                <a:solidFill>
                  <a:srgbClr val="13272B"/>
                </a:solidFill>
                <a:latin typeface="Dubai" pitchFamily="34" charset="0"/>
                <a:ea typeface="Dubai" pitchFamily="34" charset="-122"/>
                <a:cs typeface="Dubai" pitchFamily="34" charset="-120"/>
              </a:rPr>
              <a:t>1</a:t>
            </a:r>
            <a:endParaRPr lang="ar-JO" sz="1600" dirty="0"/>
          </a:p>
        </p:txBody>
      </p:sp>
      <p:sp>
        <p:nvSpPr>
          <p:cNvPr id="8" name="Text 6"/>
          <p:cNvSpPr txBox="1"/>
          <p:nvPr/>
        </p:nvSpPr>
        <p:spPr>
          <a:xfrm>
            <a:off x="6208776" y="2926080"/>
            <a:ext cx="2340864" cy="731520"/>
          </a:xfrm>
          <a:prstGeom prst="rect">
            <a:avLst/>
          </a:prstGeom>
          <a:noFill/>
          <a:ln/>
        </p:spPr>
        <p:txBody>
          <a:bodyPr wrap="square" lIns="0" tIns="0" rIns="0" bIns="0" rtlCol="0" anchor="ctr"/>
          <a:lstStyle/>
          <a:p>
            <a:pPr marL="0" indent="0" algn="ctr" rtl="1">
              <a:buNone/>
            </a:pPr>
            <a:r>
              <a:rPr lang="ar-JO" altLang="en-US" sz="1500" b="1" dirty="0">
                <a:solidFill>
                  <a:srgbClr val="FFFFFF"/>
                </a:solidFill>
                <a:latin typeface="Dubai" pitchFamily="34" charset="0"/>
                <a:ea typeface="Dubai" pitchFamily="34" charset="-122"/>
                <a:cs typeface="Dubai" pitchFamily="34" charset="-120"/>
              </a:rPr>
              <a:t>التحقق من أداء النماذج</a:t>
            </a:r>
            <a:endParaRPr lang="ar-JO" sz="1500" dirty="0"/>
          </a:p>
        </p:txBody>
      </p:sp>
      <p:sp>
        <p:nvSpPr>
          <p:cNvPr id="9" name="Shape 7"/>
          <p:cNvSpPr/>
          <p:nvPr/>
        </p:nvSpPr>
        <p:spPr>
          <a:xfrm>
            <a:off x="3264408" y="2286000"/>
            <a:ext cx="2615184" cy="1463040"/>
          </a:xfrm>
          <a:prstGeom prst="roundRect">
            <a:avLst>
              <a:gd name="adj" fmla="val 6250"/>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0" name="Shape 8"/>
          <p:cNvSpPr/>
          <p:nvPr/>
        </p:nvSpPr>
        <p:spPr>
          <a:xfrm>
            <a:off x="4343400" y="2395728"/>
            <a:ext cx="457200" cy="457200"/>
          </a:xfrm>
          <a:prstGeom prst="ellipse">
            <a:avLst/>
          </a:prstGeom>
          <a:solidFill>
            <a:srgbClr val="45B8B2"/>
          </a:solidFill>
          <a:ln w="12700">
            <a:solidFill>
              <a:srgbClr val="45B8B2"/>
            </a:solidFill>
            <a:prstDash val="solid"/>
          </a:ln>
        </p:spPr>
        <p:txBody>
          <a:bodyPr/>
          <a:lstStyle/>
          <a:p>
            <a:endParaRPr lang="en-US"/>
          </a:p>
        </p:txBody>
      </p:sp>
      <p:sp>
        <p:nvSpPr>
          <p:cNvPr id="11" name="Text 9"/>
          <p:cNvSpPr txBox="1"/>
          <p:nvPr/>
        </p:nvSpPr>
        <p:spPr>
          <a:xfrm>
            <a:off x="4343400" y="2395728"/>
            <a:ext cx="457200" cy="457200"/>
          </a:xfrm>
          <a:prstGeom prst="rect">
            <a:avLst/>
          </a:prstGeom>
          <a:noFill/>
          <a:ln/>
        </p:spPr>
        <p:txBody>
          <a:bodyPr wrap="square" lIns="0" tIns="0" rIns="0" bIns="0" rtlCol="0" anchor="ctr"/>
          <a:lstStyle/>
          <a:p>
            <a:pPr marL="0" indent="0" algn="ctr" rtl="1">
              <a:buNone/>
            </a:pPr>
            <a:r>
              <a:rPr lang="ar-JO" altLang="en-US" sz="1600" b="1" dirty="0">
                <a:solidFill>
                  <a:srgbClr val="13272B"/>
                </a:solidFill>
                <a:latin typeface="Dubai" pitchFamily="34" charset="0"/>
                <a:ea typeface="Dubai" pitchFamily="34" charset="-122"/>
                <a:cs typeface="Dubai" pitchFamily="34" charset="-120"/>
              </a:rPr>
              <a:t>2</a:t>
            </a:r>
            <a:endParaRPr lang="ar-JO" sz="1600" dirty="0"/>
          </a:p>
        </p:txBody>
      </p:sp>
      <p:sp>
        <p:nvSpPr>
          <p:cNvPr id="12" name="Text 10"/>
          <p:cNvSpPr txBox="1"/>
          <p:nvPr/>
        </p:nvSpPr>
        <p:spPr>
          <a:xfrm>
            <a:off x="3401568" y="2926080"/>
            <a:ext cx="2340864" cy="731520"/>
          </a:xfrm>
          <a:prstGeom prst="rect">
            <a:avLst/>
          </a:prstGeom>
          <a:noFill/>
          <a:ln/>
        </p:spPr>
        <p:txBody>
          <a:bodyPr wrap="square" lIns="0" tIns="0" rIns="0" bIns="0" rtlCol="0" anchor="ctr"/>
          <a:lstStyle/>
          <a:p>
            <a:pPr marL="0" indent="0" algn="ctr" rtl="1">
              <a:buNone/>
            </a:pPr>
            <a:r>
              <a:rPr lang="ar-JO" altLang="en-US" sz="1500" b="1" dirty="0">
                <a:solidFill>
                  <a:srgbClr val="FFFFFF"/>
                </a:solidFill>
                <a:latin typeface="Dubai" pitchFamily="34" charset="0"/>
                <a:ea typeface="Dubai" pitchFamily="34" charset="-122"/>
                <a:cs typeface="Dubai" pitchFamily="34" charset="-120"/>
              </a:rPr>
              <a:t>اختبار على بيانات واقعية مصرح بها</a:t>
            </a:r>
            <a:endParaRPr lang="ar-JO" sz="1500" dirty="0"/>
          </a:p>
        </p:txBody>
      </p:sp>
      <p:sp>
        <p:nvSpPr>
          <p:cNvPr id="13" name="Shape 11"/>
          <p:cNvSpPr/>
          <p:nvPr/>
        </p:nvSpPr>
        <p:spPr>
          <a:xfrm>
            <a:off x="457200" y="2286000"/>
            <a:ext cx="2615184" cy="1463040"/>
          </a:xfrm>
          <a:prstGeom prst="roundRect">
            <a:avLst>
              <a:gd name="adj" fmla="val 6250"/>
            </a:avLst>
          </a:prstGeom>
          <a:solidFill>
            <a:srgbClr val="1B3A3F"/>
          </a:solidFill>
          <a:ln w="9525">
            <a:solidFill>
              <a:srgbClr val="45B8B2"/>
            </a:solidFill>
            <a:prstDash val="solid"/>
          </a:ln>
          <a:effectLst>
            <a:outerShdw blurRad="101600" dist="25400" dir="5400000" algn="bl" rotWithShape="0">
              <a:srgbClr val="0B3B3B">
                <a:alpha val="10000"/>
              </a:srgbClr>
            </a:outerShdw>
          </a:effectLst>
        </p:spPr>
        <p:txBody>
          <a:bodyPr/>
          <a:lstStyle/>
          <a:p>
            <a:endParaRPr lang="en-US"/>
          </a:p>
        </p:txBody>
      </p:sp>
      <p:sp>
        <p:nvSpPr>
          <p:cNvPr id="14" name="Shape 12"/>
          <p:cNvSpPr/>
          <p:nvPr/>
        </p:nvSpPr>
        <p:spPr>
          <a:xfrm>
            <a:off x="1536192" y="2395728"/>
            <a:ext cx="457200" cy="457200"/>
          </a:xfrm>
          <a:prstGeom prst="ellipse">
            <a:avLst/>
          </a:prstGeom>
          <a:solidFill>
            <a:srgbClr val="45B8B2"/>
          </a:solidFill>
          <a:ln w="12700">
            <a:solidFill>
              <a:srgbClr val="45B8B2"/>
            </a:solidFill>
            <a:prstDash val="solid"/>
          </a:ln>
        </p:spPr>
        <p:txBody>
          <a:bodyPr/>
          <a:lstStyle/>
          <a:p>
            <a:endParaRPr lang="en-US"/>
          </a:p>
        </p:txBody>
      </p:sp>
      <p:sp>
        <p:nvSpPr>
          <p:cNvPr id="15" name="Text 13"/>
          <p:cNvSpPr txBox="1"/>
          <p:nvPr/>
        </p:nvSpPr>
        <p:spPr>
          <a:xfrm>
            <a:off x="1536192" y="2395728"/>
            <a:ext cx="457200" cy="457200"/>
          </a:xfrm>
          <a:prstGeom prst="rect">
            <a:avLst/>
          </a:prstGeom>
          <a:noFill/>
          <a:ln/>
        </p:spPr>
        <p:txBody>
          <a:bodyPr wrap="square" lIns="0" tIns="0" rIns="0" bIns="0" rtlCol="0" anchor="ctr"/>
          <a:lstStyle/>
          <a:p>
            <a:pPr marL="0" indent="0" algn="ctr" rtl="1">
              <a:buNone/>
            </a:pPr>
            <a:r>
              <a:rPr lang="ar-JO" altLang="en-US" sz="1600" b="1" dirty="0">
                <a:solidFill>
                  <a:srgbClr val="13272B"/>
                </a:solidFill>
                <a:latin typeface="Dubai" pitchFamily="34" charset="0"/>
                <a:ea typeface="Dubai" pitchFamily="34" charset="-122"/>
                <a:cs typeface="Dubai" pitchFamily="34" charset="-120"/>
              </a:rPr>
              <a:t>3</a:t>
            </a:r>
            <a:endParaRPr lang="ar-JO" sz="1600" dirty="0"/>
          </a:p>
        </p:txBody>
      </p:sp>
      <p:sp>
        <p:nvSpPr>
          <p:cNvPr id="16" name="Text 14"/>
          <p:cNvSpPr txBox="1"/>
          <p:nvPr/>
        </p:nvSpPr>
        <p:spPr>
          <a:xfrm>
            <a:off x="594360" y="2926080"/>
            <a:ext cx="2340864" cy="731520"/>
          </a:xfrm>
          <a:prstGeom prst="rect">
            <a:avLst/>
          </a:prstGeom>
          <a:noFill/>
          <a:ln/>
        </p:spPr>
        <p:txBody>
          <a:bodyPr wrap="square" lIns="0" tIns="0" rIns="0" bIns="0" rtlCol="0" anchor="ctr"/>
          <a:lstStyle/>
          <a:p>
            <a:pPr marL="0" indent="0" algn="ctr" rtl="1">
              <a:buNone/>
            </a:pPr>
            <a:r>
              <a:rPr lang="ar-JO" altLang="en-US" sz="1500" b="1" dirty="0">
                <a:solidFill>
                  <a:srgbClr val="FFFFFF"/>
                </a:solidFill>
                <a:latin typeface="Dubai" pitchFamily="34" charset="0"/>
                <a:ea typeface="Dubai" pitchFamily="34" charset="-122"/>
                <a:cs typeface="Dubai" pitchFamily="34" charset="-120"/>
              </a:rPr>
              <a:t>تجربة تطبيقية مع جهة صحية مناسبة</a:t>
            </a:r>
            <a:endParaRPr lang="ar-JO" sz="1500" dirty="0"/>
          </a:p>
        </p:txBody>
      </p:sp>
      <p:sp>
        <p:nvSpPr>
          <p:cNvPr id="17" name="Text 15"/>
          <p:cNvSpPr txBox="1"/>
          <p:nvPr/>
        </p:nvSpPr>
        <p:spPr>
          <a:xfrm>
            <a:off x="457200" y="4023360"/>
            <a:ext cx="8229600" cy="548640"/>
          </a:xfrm>
          <a:prstGeom prst="rect">
            <a:avLst/>
          </a:prstGeom>
          <a:noFill/>
          <a:ln/>
        </p:spPr>
        <p:txBody>
          <a:bodyPr wrap="square" lIns="0" tIns="0" rIns="0" bIns="0" rtlCol="0" anchor="ctr"/>
          <a:lstStyle/>
          <a:p>
            <a:pPr marL="0" indent="0" algn="r" rtl="1">
              <a:buNone/>
            </a:pPr>
            <a:r>
              <a:rPr lang="ar-JO" altLang="en-US" sz="2200" b="1" dirty="0">
                <a:solidFill>
                  <a:srgbClr val="FFFFFF"/>
                </a:solidFill>
                <a:latin typeface="Dubai" pitchFamily="34" charset="0"/>
                <a:ea typeface="Dubai" pitchFamily="34" charset="-122"/>
                <a:cs typeface="Dubai" pitchFamily="34" charset="-120"/>
              </a:rPr>
              <a:t>نبني الثقة بالأدلة قبل الوعود.</a:t>
            </a:r>
            <a:endParaRPr lang="ar-JO"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ub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ub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1248</Words>
  <Application>Microsoft Office PowerPoint</Application>
  <PresentationFormat>On-screen Show (16:9)</PresentationFormat>
  <Paragraphs>139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Dubai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منصة الموارد الصحية الذكية</dc:title>
  <dc:subject>PptxGenJS Presentation</dc:subject>
  <dc:creator>PptxGenJS</dc:creator>
  <cp:lastModifiedBy>user</cp:lastModifiedBy>
  <cp:revision>2</cp:revision>
  <dcterms:created xsi:type="dcterms:W3CDTF">2026-10-10T07:54:51Z</dcterms:created>
  <dcterms:modified xsi:type="dcterms:W3CDTF">2026-10-10T08:12:33Z</dcterms:modified>
</cp:coreProperties>
</file>